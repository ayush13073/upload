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8229600" cx="14630400"/>
  <p:notesSz cx="8229600" cy="14630400"/>
  <p:embeddedFontLst>
    <p:embeddedFont>
      <p:font typeface="Heebo"/>
      <p:regular r:id="rId10"/>
      <p:bold r:id="rId11"/>
    </p:embeddedFont>
    <p:embeddedFont>
      <p:font typeface="Crimson Pro Light"/>
      <p:regular r:id="rId12"/>
      <p:bold r:id="rId13"/>
      <p:italic r:id="rId14"/>
      <p:boldItalic r:id="rId15"/>
    </p:embeddedFont>
    <p:embeddedFont>
      <p:font typeface="Crimson Pro SemiBold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h250TZwJ7o4qVUC8juqYW3N4Ia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font" Target="fonts/Heebo-bold.fntdata"/><Relationship Id="rId10" Type="http://schemas.openxmlformats.org/officeDocument/2006/relationships/font" Target="fonts/Heebo-regular.fntdata"/><Relationship Id="rId13" Type="http://schemas.openxmlformats.org/officeDocument/2006/relationships/font" Target="fonts/CrimsonProLight-bold.fntdata"/><Relationship Id="rId12" Type="http://schemas.openxmlformats.org/officeDocument/2006/relationships/font" Target="fonts/CrimsonProLight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CrimsonProLight-boldItalic.fntdata"/><Relationship Id="rId14" Type="http://schemas.openxmlformats.org/officeDocument/2006/relationships/font" Target="fonts/CrimsonProLight-italic.fntdata"/><Relationship Id="rId17" Type="http://schemas.openxmlformats.org/officeDocument/2006/relationships/font" Target="fonts/CrimsonProSemiBold-bold.fntdata"/><Relationship Id="rId16" Type="http://schemas.openxmlformats.org/officeDocument/2006/relationships/font" Target="fonts/CrimsonProSemiBold-regular.fntdata"/><Relationship Id="rId5" Type="http://schemas.openxmlformats.org/officeDocument/2006/relationships/slide" Target="slides/slide1.xml"/><Relationship Id="rId19" Type="http://schemas.openxmlformats.org/officeDocument/2006/relationships/font" Target="fonts/CrimsonProSemiBold-boldItalic.fntdata"/><Relationship Id="rId6" Type="http://schemas.openxmlformats.org/officeDocument/2006/relationships/slide" Target="slides/slide2.xml"/><Relationship Id="rId18" Type="http://schemas.openxmlformats.org/officeDocument/2006/relationships/font" Target="fonts/CrimsonProSemiBold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byjus.com/linear-regression-formula/" TargetMode="External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5" Type="http://schemas.openxmlformats.org/officeDocument/2006/relationships/image" Target="../media/image21.png"/><Relationship Id="rId6" Type="http://schemas.openxmlformats.org/officeDocument/2006/relationships/image" Target="../media/image16.png"/><Relationship Id="rId7" Type="http://schemas.openxmlformats.org/officeDocument/2006/relationships/image" Target="../media/image9.png"/><Relationship Id="rId8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statskingdom.com/linear-regression-calculator.html" TargetMode="External"/><Relationship Id="rId4" Type="http://schemas.openxmlformats.org/officeDocument/2006/relationships/image" Target="../media/image11.png"/><Relationship Id="rId11" Type="http://schemas.openxmlformats.org/officeDocument/2006/relationships/image" Target="../media/image23.png"/><Relationship Id="rId10" Type="http://schemas.openxmlformats.org/officeDocument/2006/relationships/image" Target="../media/image18.png"/><Relationship Id="rId12" Type="http://schemas.openxmlformats.org/officeDocument/2006/relationships/image" Target="../media/image25.png"/><Relationship Id="rId9" Type="http://schemas.openxmlformats.org/officeDocument/2006/relationships/image" Target="../media/image26.png"/><Relationship Id="rId5" Type="http://schemas.openxmlformats.org/officeDocument/2006/relationships/image" Target="../media/image8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22.png"/><Relationship Id="rId10" Type="http://schemas.openxmlformats.org/officeDocument/2006/relationships/image" Target="../media/image29.png"/><Relationship Id="rId9" Type="http://schemas.openxmlformats.org/officeDocument/2006/relationships/image" Target="../media/image24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Relationship Id="rId7" Type="http://schemas.openxmlformats.org/officeDocument/2006/relationships/image" Target="../media/image30.png"/><Relationship Id="rId8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"/>
          <p:cNvSpPr/>
          <p:nvPr/>
        </p:nvSpPr>
        <p:spPr>
          <a:xfrm>
            <a:off x="537689" y="355872"/>
            <a:ext cx="69786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750"/>
              <a:buFont typeface="Crimson Pro SemiBold"/>
              <a:buNone/>
            </a:pPr>
            <a:r>
              <a:rPr b="1" i="0" lang="en-US" sz="27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Simple Linear Regression: A Step-by-Step Guide</a:t>
            </a:r>
            <a:endParaRPr b="0" i="0" sz="2750" u="none" cap="none" strike="noStrike"/>
          </a:p>
        </p:txBody>
      </p:sp>
      <p:sp>
        <p:nvSpPr>
          <p:cNvPr id="37" name="Google Shape;37;p1"/>
          <p:cNvSpPr/>
          <p:nvPr/>
        </p:nvSpPr>
        <p:spPr>
          <a:xfrm>
            <a:off x="2427089" y="1782723"/>
            <a:ext cx="9776222" cy="368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Learn how to predict test scores based on study hours using simple linear regression. This tutorial walks through a complete example with real calculations.</a:t>
            </a:r>
            <a:endParaRPr b="0" i="0" sz="1100" u="none" cap="none" strike="noStrike"/>
          </a:p>
        </p:txBody>
      </p:sp>
      <p:sp>
        <p:nvSpPr>
          <p:cNvPr id="38" name="Google Shape;38;p1"/>
          <p:cNvSpPr/>
          <p:nvPr/>
        </p:nvSpPr>
        <p:spPr>
          <a:xfrm>
            <a:off x="2427089" y="2258020"/>
            <a:ext cx="940713" cy="232291"/>
          </a:xfrm>
          <a:prstGeom prst="roundRect">
            <a:avLst>
              <a:gd fmla="val 7319" name="adj"/>
            </a:avLst>
          </a:prstGeom>
          <a:solidFill>
            <a:srgbClr val="CCD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2100" y="2317433"/>
            <a:ext cx="113348" cy="11334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"/>
          <p:cNvSpPr/>
          <p:nvPr/>
        </p:nvSpPr>
        <p:spPr>
          <a:xfrm>
            <a:off x="2682121" y="2300526"/>
            <a:ext cx="600670" cy="14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294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850"/>
              <a:buFont typeface="Heebo"/>
              <a:buNone/>
            </a:pPr>
            <a:r>
              <a:rPr b="0" i="0" lang="en-US" sz="8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STATISTICS</a:t>
            </a:r>
            <a:endParaRPr b="0" i="0" sz="850" u="none" cap="none" strike="noStrike"/>
          </a:p>
        </p:txBody>
      </p:sp>
      <p:sp>
        <p:nvSpPr>
          <p:cNvPr id="41" name="Google Shape;41;p1"/>
          <p:cNvSpPr/>
          <p:nvPr/>
        </p:nvSpPr>
        <p:spPr>
          <a:xfrm>
            <a:off x="3438644" y="2250400"/>
            <a:ext cx="1559600" cy="247531"/>
          </a:xfrm>
          <a:prstGeom prst="roundRect">
            <a:avLst>
              <a:gd fmla="val 6869" name="adj"/>
            </a:avLst>
          </a:prstGeom>
          <a:noFill/>
          <a:ln cap="flat" cmpd="sng" w="9525">
            <a:solidFill>
              <a:srgbClr val="2150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" name="Google Shape;4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1275" y="2317433"/>
            <a:ext cx="113348" cy="113348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"/>
          <p:cNvSpPr/>
          <p:nvPr/>
        </p:nvSpPr>
        <p:spPr>
          <a:xfrm>
            <a:off x="3701296" y="2300526"/>
            <a:ext cx="1204317" cy="14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294"/>
              </a:lnSpc>
              <a:spcBef>
                <a:spcPts val="0"/>
              </a:spcBef>
              <a:spcAft>
                <a:spcPts val="0"/>
              </a:spcAft>
              <a:buClr>
                <a:srgbClr val="2150FE"/>
              </a:buClr>
              <a:buSzPts val="850"/>
              <a:buFont typeface="Heebo"/>
              <a:buNone/>
            </a:pPr>
            <a:r>
              <a:rPr b="0" i="0" lang="en-US" sz="850" u="none" cap="none" strike="noStrike">
                <a:solidFill>
                  <a:srgbClr val="2150FE"/>
                </a:solidFill>
                <a:latin typeface="Heebo"/>
                <a:ea typeface="Heebo"/>
                <a:cs typeface="Heebo"/>
                <a:sym typeface="Heebo"/>
              </a:rPr>
              <a:t>REGRESSION ANALYSIS</a:t>
            </a:r>
            <a:endParaRPr b="0" i="0" sz="850" u="none" cap="none" strike="noStrike"/>
          </a:p>
        </p:txBody>
      </p:sp>
      <p:sp>
        <p:nvSpPr>
          <p:cNvPr id="44" name="Google Shape;44;p1"/>
          <p:cNvSpPr/>
          <p:nvPr/>
        </p:nvSpPr>
        <p:spPr>
          <a:xfrm>
            <a:off x="2427089" y="2533293"/>
            <a:ext cx="2833687" cy="3542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200"/>
              <a:buFont typeface="Crimson Pro SemiBold"/>
              <a:buNone/>
            </a:pPr>
            <a:r>
              <a:rPr b="1" i="0" lang="en-US" sz="220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The Problem</a:t>
            </a:r>
            <a:endParaRPr b="0" i="0" sz="2200" u="none" cap="none" strike="noStrike"/>
          </a:p>
        </p:txBody>
      </p:sp>
      <p:sp>
        <p:nvSpPr>
          <p:cNvPr id="45" name="Google Shape;45;p1"/>
          <p:cNvSpPr/>
          <p:nvPr/>
        </p:nvSpPr>
        <p:spPr>
          <a:xfrm>
            <a:off x="2427089" y="3020139"/>
            <a:ext cx="9776222" cy="375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 teacher wants to investigate whether the number of hours a student studies (</a:t>
            </a:r>
            <a:r>
              <a:rPr b="0" i="1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X</a:t>
            </a: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) can predict their test score (</a:t>
            </a:r>
            <a:r>
              <a:rPr b="0" i="1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Y</a:t>
            </a: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). We'll use simple linear regression to find the relationship and make predictions.</a:t>
            </a:r>
            <a:endParaRPr b="0" i="0" sz="1100" u="none" cap="none" strike="noStrike"/>
          </a:p>
        </p:txBody>
      </p:sp>
      <p:sp>
        <p:nvSpPr>
          <p:cNvPr id="46" name="Google Shape;46;p1"/>
          <p:cNvSpPr/>
          <p:nvPr/>
        </p:nvSpPr>
        <p:spPr>
          <a:xfrm>
            <a:off x="2427089" y="3495437"/>
            <a:ext cx="3199686" cy="994172"/>
          </a:xfrm>
          <a:prstGeom prst="roundRect">
            <a:avLst>
              <a:gd fmla="val 2138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"/>
          <p:cNvSpPr/>
          <p:nvPr/>
        </p:nvSpPr>
        <p:spPr>
          <a:xfrm>
            <a:off x="2568773" y="3637121"/>
            <a:ext cx="177105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350"/>
              <a:buFont typeface="Crimson Pro SemiBold"/>
              <a:buNone/>
            </a:pPr>
            <a:r>
              <a:rPr b="1" i="0" lang="en-US" sz="135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Sample Size</a:t>
            </a:r>
            <a:endParaRPr b="0" i="0" sz="1350" u="none" cap="none" strike="noStrike"/>
          </a:p>
        </p:txBody>
      </p:sp>
      <p:sp>
        <p:nvSpPr>
          <p:cNvPr id="48" name="Google Shape;48;p1"/>
          <p:cNvSpPr/>
          <p:nvPr/>
        </p:nvSpPr>
        <p:spPr>
          <a:xfrm>
            <a:off x="2568773" y="3911560"/>
            <a:ext cx="2916317" cy="191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1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n = 5</a:t>
            </a: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students</a:t>
            </a:r>
            <a:endParaRPr b="0" i="0" sz="1100" u="none" cap="none" strike="noStrike"/>
          </a:p>
        </p:txBody>
      </p:sp>
      <p:sp>
        <p:nvSpPr>
          <p:cNvPr id="49" name="Google Shape;49;p1"/>
          <p:cNvSpPr/>
          <p:nvPr/>
        </p:nvSpPr>
        <p:spPr>
          <a:xfrm>
            <a:off x="5715238" y="3495437"/>
            <a:ext cx="3199805" cy="994172"/>
          </a:xfrm>
          <a:prstGeom prst="roundRect">
            <a:avLst>
              <a:gd fmla="val 2138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"/>
          <p:cNvSpPr/>
          <p:nvPr/>
        </p:nvSpPr>
        <p:spPr>
          <a:xfrm>
            <a:off x="5856923" y="3637121"/>
            <a:ext cx="177105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350"/>
              <a:buFont typeface="Crimson Pro SemiBold"/>
              <a:buNone/>
            </a:pPr>
            <a:r>
              <a:rPr b="1" i="0" lang="en-US" sz="135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Variables</a:t>
            </a:r>
            <a:endParaRPr b="0" i="0" sz="1350" u="none" cap="none" strike="noStrike"/>
          </a:p>
        </p:txBody>
      </p:sp>
      <p:sp>
        <p:nvSpPr>
          <p:cNvPr id="51" name="Google Shape;51;p1"/>
          <p:cNvSpPr/>
          <p:nvPr/>
        </p:nvSpPr>
        <p:spPr>
          <a:xfrm>
            <a:off x="5856923" y="3911560"/>
            <a:ext cx="2916436" cy="191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1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X</a:t>
            </a: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= Study hours</a:t>
            </a:r>
            <a:endParaRPr b="0" i="0" sz="1100" u="none" cap="none" strike="noStrike"/>
          </a:p>
        </p:txBody>
      </p:sp>
      <p:sp>
        <p:nvSpPr>
          <p:cNvPr id="52" name="Google Shape;52;p1"/>
          <p:cNvSpPr/>
          <p:nvPr/>
        </p:nvSpPr>
        <p:spPr>
          <a:xfrm>
            <a:off x="5856923" y="4156234"/>
            <a:ext cx="2916436" cy="191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1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Y</a:t>
            </a: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= Test score</a:t>
            </a:r>
            <a:endParaRPr b="0" i="0" sz="1100" u="none" cap="none" strike="noStrike"/>
          </a:p>
        </p:txBody>
      </p:sp>
      <p:sp>
        <p:nvSpPr>
          <p:cNvPr id="53" name="Google Shape;53;p1"/>
          <p:cNvSpPr/>
          <p:nvPr/>
        </p:nvSpPr>
        <p:spPr>
          <a:xfrm>
            <a:off x="9003506" y="3495437"/>
            <a:ext cx="3199686" cy="994172"/>
          </a:xfrm>
          <a:prstGeom prst="roundRect">
            <a:avLst>
              <a:gd fmla="val 2138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"/>
          <p:cNvSpPr/>
          <p:nvPr/>
        </p:nvSpPr>
        <p:spPr>
          <a:xfrm>
            <a:off x="9145191" y="3637121"/>
            <a:ext cx="177105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350"/>
              <a:buFont typeface="Crimson Pro SemiBold"/>
              <a:buNone/>
            </a:pPr>
            <a:r>
              <a:rPr b="1" i="0" lang="en-US" sz="135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Goal</a:t>
            </a:r>
            <a:endParaRPr b="0" i="0" sz="1350" u="none" cap="none" strike="noStrike"/>
          </a:p>
        </p:txBody>
      </p:sp>
      <p:sp>
        <p:nvSpPr>
          <p:cNvPr id="55" name="Google Shape;55;p1"/>
          <p:cNvSpPr/>
          <p:nvPr/>
        </p:nvSpPr>
        <p:spPr>
          <a:xfrm>
            <a:off x="9145191" y="3911560"/>
            <a:ext cx="2916317" cy="1916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Find equation </a:t>
            </a:r>
            <a:r>
              <a:rPr b="0" i="1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\hat{Y} = \beta_1 X + \beta_0</a:t>
            </a:r>
            <a:endParaRPr b="0" i="0" sz="1100" u="none" cap="none" strike="noStrike"/>
          </a:p>
        </p:txBody>
      </p:sp>
      <p:sp>
        <p:nvSpPr>
          <p:cNvPr id="56" name="Google Shape;56;p1"/>
          <p:cNvSpPr/>
          <p:nvPr/>
        </p:nvSpPr>
        <p:spPr>
          <a:xfrm>
            <a:off x="2427089" y="4622244"/>
            <a:ext cx="2125266" cy="265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1650"/>
              <a:buFont typeface="Crimson Pro SemiBold"/>
              <a:buNone/>
            </a:pPr>
            <a:r>
              <a:rPr b="1" i="0" lang="en-US" sz="16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Our Dataset</a:t>
            </a:r>
            <a:endParaRPr b="0" i="0" sz="1650" u="none" cap="none" strike="noStrike"/>
          </a:p>
        </p:txBody>
      </p:sp>
      <p:sp>
        <p:nvSpPr>
          <p:cNvPr id="57" name="Google Shape;57;p1"/>
          <p:cNvSpPr/>
          <p:nvPr/>
        </p:nvSpPr>
        <p:spPr>
          <a:xfrm>
            <a:off x="2427089" y="5120045"/>
            <a:ext cx="4715351" cy="1846898"/>
          </a:xfrm>
          <a:prstGeom prst="roundRect">
            <a:avLst>
              <a:gd fmla="val 1151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"/>
          <p:cNvSpPr/>
          <p:nvPr/>
        </p:nvSpPr>
        <p:spPr>
          <a:xfrm>
            <a:off x="2434709" y="5127665"/>
            <a:ext cx="4700111" cy="305276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"/>
          <p:cNvSpPr/>
          <p:nvPr/>
        </p:nvSpPr>
        <p:spPr>
          <a:xfrm>
            <a:off x="2576393" y="5188268"/>
            <a:ext cx="2062877" cy="184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1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Study Hours (X)</a:t>
            </a:r>
            <a:endParaRPr b="0" i="0" sz="1100" u="none" cap="none" strike="noStrike"/>
          </a:p>
        </p:txBody>
      </p:sp>
      <p:sp>
        <p:nvSpPr>
          <p:cNvPr id="60" name="Google Shape;60;p1"/>
          <p:cNvSpPr/>
          <p:nvPr/>
        </p:nvSpPr>
        <p:spPr>
          <a:xfrm>
            <a:off x="4930259" y="5188268"/>
            <a:ext cx="2062877" cy="184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1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Test Score (Y)</a:t>
            </a:r>
            <a:endParaRPr b="0" i="0" sz="1100" u="none" cap="none" strike="noStrike"/>
          </a:p>
        </p:txBody>
      </p:sp>
      <p:sp>
        <p:nvSpPr>
          <p:cNvPr id="61" name="Google Shape;61;p1"/>
          <p:cNvSpPr/>
          <p:nvPr/>
        </p:nvSpPr>
        <p:spPr>
          <a:xfrm>
            <a:off x="2434709" y="5432941"/>
            <a:ext cx="4700111" cy="305276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"/>
          <p:cNvSpPr/>
          <p:nvPr/>
        </p:nvSpPr>
        <p:spPr>
          <a:xfrm>
            <a:off x="2576393" y="5493544"/>
            <a:ext cx="2062877" cy="184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1</a:t>
            </a:r>
            <a:endParaRPr b="0" i="0" sz="1100" u="none" cap="none" strike="noStrike"/>
          </a:p>
        </p:txBody>
      </p:sp>
      <p:sp>
        <p:nvSpPr>
          <p:cNvPr id="63" name="Google Shape;63;p1"/>
          <p:cNvSpPr/>
          <p:nvPr/>
        </p:nvSpPr>
        <p:spPr>
          <a:xfrm>
            <a:off x="4930259" y="5493544"/>
            <a:ext cx="2062877" cy="184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2</a:t>
            </a:r>
            <a:endParaRPr b="0" i="0" sz="1100" u="none" cap="none" strike="noStrike"/>
          </a:p>
        </p:txBody>
      </p:sp>
      <p:sp>
        <p:nvSpPr>
          <p:cNvPr id="64" name="Google Shape;64;p1"/>
          <p:cNvSpPr/>
          <p:nvPr/>
        </p:nvSpPr>
        <p:spPr>
          <a:xfrm>
            <a:off x="2434709" y="5738217"/>
            <a:ext cx="4700111" cy="305276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"/>
          <p:cNvSpPr/>
          <p:nvPr/>
        </p:nvSpPr>
        <p:spPr>
          <a:xfrm>
            <a:off x="2576393" y="5798820"/>
            <a:ext cx="2062877" cy="184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2</a:t>
            </a:r>
            <a:endParaRPr b="0" i="0" sz="1100" u="none" cap="none" strike="noStrike"/>
          </a:p>
        </p:txBody>
      </p:sp>
      <p:sp>
        <p:nvSpPr>
          <p:cNvPr id="66" name="Google Shape;66;p1"/>
          <p:cNvSpPr/>
          <p:nvPr/>
        </p:nvSpPr>
        <p:spPr>
          <a:xfrm>
            <a:off x="4930259" y="5798820"/>
            <a:ext cx="2062877" cy="184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4</a:t>
            </a:r>
            <a:endParaRPr b="0" i="0" sz="1100" u="none" cap="none" strike="noStrike"/>
          </a:p>
        </p:txBody>
      </p:sp>
      <p:sp>
        <p:nvSpPr>
          <p:cNvPr id="67" name="Google Shape;67;p1"/>
          <p:cNvSpPr/>
          <p:nvPr/>
        </p:nvSpPr>
        <p:spPr>
          <a:xfrm>
            <a:off x="2434709" y="6043493"/>
            <a:ext cx="4700111" cy="305276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"/>
          <p:cNvSpPr/>
          <p:nvPr/>
        </p:nvSpPr>
        <p:spPr>
          <a:xfrm>
            <a:off x="2576393" y="6104096"/>
            <a:ext cx="2062877" cy="184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3</a:t>
            </a:r>
            <a:endParaRPr b="0" i="0" sz="1100" u="none" cap="none" strike="noStrike"/>
          </a:p>
        </p:txBody>
      </p:sp>
      <p:sp>
        <p:nvSpPr>
          <p:cNvPr id="69" name="Google Shape;69;p1"/>
          <p:cNvSpPr/>
          <p:nvPr/>
        </p:nvSpPr>
        <p:spPr>
          <a:xfrm>
            <a:off x="4930259" y="6104096"/>
            <a:ext cx="2062877" cy="184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5</a:t>
            </a:r>
            <a:endParaRPr b="0" i="0" sz="1100" u="none" cap="none" strike="noStrike"/>
          </a:p>
        </p:txBody>
      </p:sp>
      <p:sp>
        <p:nvSpPr>
          <p:cNvPr id="70" name="Google Shape;70;p1"/>
          <p:cNvSpPr/>
          <p:nvPr/>
        </p:nvSpPr>
        <p:spPr>
          <a:xfrm>
            <a:off x="2434709" y="6348770"/>
            <a:ext cx="4700111" cy="305276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"/>
          <p:cNvSpPr/>
          <p:nvPr/>
        </p:nvSpPr>
        <p:spPr>
          <a:xfrm>
            <a:off x="2576393" y="6409373"/>
            <a:ext cx="2062877" cy="184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4</a:t>
            </a:r>
            <a:endParaRPr b="0" i="0" sz="1100" u="none" cap="none" strike="noStrike"/>
          </a:p>
        </p:txBody>
      </p:sp>
      <p:sp>
        <p:nvSpPr>
          <p:cNvPr id="72" name="Google Shape;72;p1"/>
          <p:cNvSpPr/>
          <p:nvPr/>
        </p:nvSpPr>
        <p:spPr>
          <a:xfrm>
            <a:off x="4930259" y="6409373"/>
            <a:ext cx="2062877" cy="184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4</a:t>
            </a:r>
            <a:endParaRPr b="0" i="0" sz="1100" u="none" cap="none" strike="noStrike"/>
          </a:p>
        </p:txBody>
      </p:sp>
      <p:sp>
        <p:nvSpPr>
          <p:cNvPr id="73" name="Google Shape;73;p1"/>
          <p:cNvSpPr/>
          <p:nvPr/>
        </p:nvSpPr>
        <p:spPr>
          <a:xfrm>
            <a:off x="2434709" y="6654046"/>
            <a:ext cx="4700111" cy="305276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"/>
          <p:cNvSpPr/>
          <p:nvPr/>
        </p:nvSpPr>
        <p:spPr>
          <a:xfrm>
            <a:off x="2576393" y="6714649"/>
            <a:ext cx="2062877" cy="184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5</a:t>
            </a:r>
            <a:endParaRPr b="0" i="0" sz="1100" u="none" cap="none" strike="noStrike"/>
          </a:p>
        </p:txBody>
      </p:sp>
      <p:sp>
        <p:nvSpPr>
          <p:cNvPr id="75" name="Google Shape;75;p1"/>
          <p:cNvSpPr/>
          <p:nvPr/>
        </p:nvSpPr>
        <p:spPr>
          <a:xfrm>
            <a:off x="4930259" y="6714649"/>
            <a:ext cx="2062877" cy="184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5</a:t>
            </a:r>
            <a:endParaRPr b="0" i="0" sz="1100" u="none" cap="none" strike="noStrike"/>
          </a:p>
        </p:txBody>
      </p:sp>
      <p:sp>
        <p:nvSpPr>
          <p:cNvPr id="76" name="Google Shape;76;p1"/>
          <p:cNvSpPr/>
          <p:nvPr/>
        </p:nvSpPr>
        <p:spPr>
          <a:xfrm>
            <a:off x="7495580" y="5100042"/>
            <a:ext cx="4715351" cy="552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This small dataset shows the relationship between study time and performance. Notice that generally, more study hours lead to higher scores, though there's some variation.</a:t>
            </a:r>
            <a:endParaRPr b="0" i="0" sz="1100" u="none" cap="none" strike="noStrike"/>
          </a:p>
        </p:txBody>
      </p:sp>
      <p:sp>
        <p:nvSpPr>
          <p:cNvPr id="77" name="Google Shape;77;p1"/>
          <p:cNvSpPr/>
          <p:nvPr/>
        </p:nvSpPr>
        <p:spPr>
          <a:xfrm>
            <a:off x="7495580" y="5731788"/>
            <a:ext cx="4715351" cy="368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b="1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Our Question:</a:t>
            </a:r>
            <a:r>
              <a:rPr b="0" i="0" lang="en-US" sz="11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What score would we predict for a student who studies 6 hours?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"/>
          <p:cNvSpPr/>
          <p:nvPr/>
        </p:nvSpPr>
        <p:spPr>
          <a:xfrm>
            <a:off x="1990611" y="767225"/>
            <a:ext cx="52179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3000"/>
              <a:buFont typeface="Crimson Pro SemiBold"/>
              <a:buNone/>
            </a:pPr>
            <a:r>
              <a:rPr b="1" i="0" lang="en-US" sz="300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Step 1: Calculate Necessary Sums</a:t>
            </a:r>
            <a:endParaRPr b="0" i="0" sz="3000" u="none" cap="none" strike="noStrike"/>
          </a:p>
        </p:txBody>
      </p:sp>
      <p:sp>
        <p:nvSpPr>
          <p:cNvPr id="84" name="Google Shape;84;p2"/>
          <p:cNvSpPr/>
          <p:nvPr/>
        </p:nvSpPr>
        <p:spPr>
          <a:xfrm>
            <a:off x="1982986" y="1855589"/>
            <a:ext cx="10664428" cy="423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00"/>
              <a:buFont typeface="Heebo"/>
              <a:buNone/>
            </a:pPr>
            <a:r>
              <a:rPr b="0" i="0" lang="en-US" sz="12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The first step in simple linear regression is computing the basic sums we'll need for our formulas. We calculate four key totals: </a:t>
            </a:r>
            <a:r>
              <a:rPr b="0" i="1" lang="en-US" sz="12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\sum X</a:t>
            </a:r>
            <a:r>
              <a:rPr b="0" i="0" lang="en-US" sz="12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, </a:t>
            </a:r>
            <a:r>
              <a:rPr b="0" i="1" lang="en-US" sz="12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\sum Y</a:t>
            </a:r>
            <a:r>
              <a:rPr b="0" i="0" lang="en-US" sz="12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, </a:t>
            </a:r>
            <a:r>
              <a:rPr b="0" i="1" lang="en-US" sz="12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\sum X^2</a:t>
            </a:r>
            <a:r>
              <a:rPr b="0" i="0" lang="en-US" sz="12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, and </a:t>
            </a:r>
            <a:r>
              <a:rPr b="0" i="1" lang="en-US" sz="12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\sum XY</a:t>
            </a:r>
            <a:r>
              <a:rPr b="0" i="0" lang="en-US" sz="12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.</a:t>
            </a:r>
            <a:endParaRPr b="0" i="0" sz="1200" u="none" cap="none" strike="noStrike"/>
          </a:p>
        </p:txBody>
      </p:sp>
      <p:sp>
        <p:nvSpPr>
          <p:cNvPr id="85" name="Google Shape;85;p2"/>
          <p:cNvSpPr/>
          <p:nvPr/>
        </p:nvSpPr>
        <p:spPr>
          <a:xfrm>
            <a:off x="1982986" y="2436614"/>
            <a:ext cx="3066812" cy="2896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1800"/>
              <a:buFont typeface="Crimson Pro SemiBold"/>
              <a:buNone/>
            </a:pPr>
            <a:r>
              <a:rPr b="1" i="0" lang="en-US" sz="180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Building Our Calculations Table</a:t>
            </a:r>
            <a:endParaRPr b="0" i="0" sz="1800" u="none" cap="none" strike="noStrike"/>
          </a:p>
        </p:txBody>
      </p:sp>
      <p:sp>
        <p:nvSpPr>
          <p:cNvPr id="86" name="Google Shape;86;p2"/>
          <p:cNvSpPr/>
          <p:nvPr/>
        </p:nvSpPr>
        <p:spPr>
          <a:xfrm>
            <a:off x="1982986" y="2884170"/>
            <a:ext cx="10664428" cy="2467332"/>
          </a:xfrm>
          <a:prstGeom prst="roundRect">
            <a:avLst>
              <a:gd fmla="val 940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"/>
          <p:cNvSpPr/>
          <p:nvPr/>
        </p:nvSpPr>
        <p:spPr>
          <a:xfrm>
            <a:off x="1990606" y="2891790"/>
            <a:ext cx="10649188" cy="35683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"/>
          <p:cNvSpPr/>
          <p:nvPr/>
        </p:nvSpPr>
        <p:spPr>
          <a:xfrm>
            <a:off x="2145387" y="2962513"/>
            <a:ext cx="2349341" cy="215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00"/>
              <a:buFont typeface="Heebo"/>
              <a:buNone/>
            </a:pPr>
            <a:r>
              <a:rPr b="1" i="1" lang="en-US" sz="12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X</a:t>
            </a:r>
            <a:endParaRPr b="0" i="0" sz="1200" u="none" cap="none" strike="noStrike"/>
          </a:p>
        </p:txBody>
      </p:sp>
      <p:sp>
        <p:nvSpPr>
          <p:cNvPr id="89" name="Google Shape;89;p2"/>
          <p:cNvSpPr/>
          <p:nvPr/>
        </p:nvSpPr>
        <p:spPr>
          <a:xfrm>
            <a:off x="4811435" y="2962513"/>
            <a:ext cx="2345531" cy="215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00"/>
              <a:buFont typeface="Heebo"/>
              <a:buNone/>
            </a:pPr>
            <a:r>
              <a:rPr b="1" i="1" lang="en-US" sz="12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Y</a:t>
            </a:r>
            <a:endParaRPr b="0" i="0" sz="1200" u="none" cap="none" strike="noStrike"/>
          </a:p>
        </p:txBody>
      </p:sp>
      <p:sp>
        <p:nvSpPr>
          <p:cNvPr id="90" name="Google Shape;90;p2"/>
          <p:cNvSpPr/>
          <p:nvPr/>
        </p:nvSpPr>
        <p:spPr>
          <a:xfrm>
            <a:off x="7473672" y="2962513"/>
            <a:ext cx="2345531" cy="215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00"/>
              <a:buFont typeface="Heebo"/>
              <a:buNone/>
            </a:pPr>
            <a:r>
              <a:rPr b="1" i="1" lang="en-US" sz="12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X^2</a:t>
            </a:r>
            <a:endParaRPr b="0" i="0" sz="1200" u="none" cap="none" strike="noStrike"/>
          </a:p>
        </p:txBody>
      </p:sp>
      <p:sp>
        <p:nvSpPr>
          <p:cNvPr id="91" name="Google Shape;91;p2"/>
          <p:cNvSpPr/>
          <p:nvPr/>
        </p:nvSpPr>
        <p:spPr>
          <a:xfrm>
            <a:off x="10135910" y="2962513"/>
            <a:ext cx="2349341" cy="215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00"/>
              <a:buFont typeface="Heebo"/>
              <a:buNone/>
            </a:pPr>
            <a:r>
              <a:rPr b="1" i="1" lang="en-US" sz="12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XY</a:t>
            </a:r>
            <a:endParaRPr b="0" i="0" sz="1200" u="none" cap="none" strike="noStrike"/>
          </a:p>
        </p:txBody>
      </p:sp>
      <p:sp>
        <p:nvSpPr>
          <p:cNvPr id="92" name="Google Shape;92;p2"/>
          <p:cNvSpPr/>
          <p:nvPr/>
        </p:nvSpPr>
        <p:spPr>
          <a:xfrm>
            <a:off x="1990606" y="3248620"/>
            <a:ext cx="10649188" cy="349210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2145387" y="3319343"/>
            <a:ext cx="2349341" cy="207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00"/>
              <a:buFont typeface="Heebo"/>
              <a:buNone/>
            </a:pPr>
            <a:r>
              <a:rPr b="0" i="0" lang="en-US" sz="12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1</a:t>
            </a:r>
            <a:endParaRPr b="0" i="0" sz="1200" u="none" cap="none" strike="noStrike"/>
          </a:p>
        </p:txBody>
      </p:sp>
      <p:sp>
        <p:nvSpPr>
          <p:cNvPr id="94" name="Google Shape;94;p2"/>
          <p:cNvSpPr/>
          <p:nvPr/>
        </p:nvSpPr>
        <p:spPr>
          <a:xfrm>
            <a:off x="4811435" y="3319343"/>
            <a:ext cx="2345531" cy="207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00"/>
              <a:buFont typeface="Heebo"/>
              <a:buNone/>
            </a:pPr>
            <a:r>
              <a:rPr b="0" i="0" lang="en-US" sz="12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2</a:t>
            </a:r>
            <a:endParaRPr b="0" i="0" sz="1200" u="none" cap="none" strike="noStrike"/>
          </a:p>
        </p:txBody>
      </p:sp>
      <p:sp>
        <p:nvSpPr>
          <p:cNvPr id="95" name="Google Shape;95;p2"/>
          <p:cNvSpPr/>
          <p:nvPr/>
        </p:nvSpPr>
        <p:spPr>
          <a:xfrm>
            <a:off x="7473672" y="3319343"/>
            <a:ext cx="2345531" cy="207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00"/>
              <a:buFont typeface="Heebo"/>
              <a:buNone/>
            </a:pPr>
            <a:r>
              <a:rPr b="0" i="0" lang="en-US" sz="12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1</a:t>
            </a:r>
            <a:endParaRPr b="0" i="0" sz="1200" u="none" cap="none" strike="noStrike"/>
          </a:p>
        </p:txBody>
      </p:sp>
      <p:sp>
        <p:nvSpPr>
          <p:cNvPr id="96" name="Google Shape;96;p2"/>
          <p:cNvSpPr/>
          <p:nvPr/>
        </p:nvSpPr>
        <p:spPr>
          <a:xfrm>
            <a:off x="10135910" y="3319343"/>
            <a:ext cx="2349341" cy="207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00"/>
              <a:buFont typeface="Heebo"/>
              <a:buNone/>
            </a:pPr>
            <a:r>
              <a:rPr b="0" i="0" lang="en-US" sz="12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2</a:t>
            </a:r>
            <a:endParaRPr b="0" i="0" sz="1200" u="none" cap="none" strike="noStrike"/>
          </a:p>
        </p:txBody>
      </p:sp>
      <p:sp>
        <p:nvSpPr>
          <p:cNvPr id="97" name="Google Shape;97;p2"/>
          <p:cNvSpPr/>
          <p:nvPr/>
        </p:nvSpPr>
        <p:spPr>
          <a:xfrm>
            <a:off x="1990606" y="3597831"/>
            <a:ext cx="10649188" cy="34921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2145387" y="3668554"/>
            <a:ext cx="2349341" cy="207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00"/>
              <a:buFont typeface="Heebo"/>
              <a:buNone/>
            </a:pPr>
            <a:r>
              <a:rPr b="0" i="0" lang="en-US" sz="12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2</a:t>
            </a:r>
            <a:endParaRPr b="0" i="0" sz="1200" u="none" cap="none" strike="noStrike"/>
          </a:p>
        </p:txBody>
      </p:sp>
      <p:sp>
        <p:nvSpPr>
          <p:cNvPr id="99" name="Google Shape;99;p2"/>
          <p:cNvSpPr/>
          <p:nvPr/>
        </p:nvSpPr>
        <p:spPr>
          <a:xfrm>
            <a:off x="4811435" y="3668554"/>
            <a:ext cx="2345531" cy="207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00"/>
              <a:buFont typeface="Heebo"/>
              <a:buNone/>
            </a:pPr>
            <a:r>
              <a:rPr b="0" i="0" lang="en-US" sz="12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4</a:t>
            </a:r>
            <a:endParaRPr b="0" i="0" sz="1200" u="none" cap="none" strike="noStrike"/>
          </a:p>
        </p:txBody>
      </p:sp>
      <p:sp>
        <p:nvSpPr>
          <p:cNvPr id="100" name="Google Shape;100;p2"/>
          <p:cNvSpPr/>
          <p:nvPr/>
        </p:nvSpPr>
        <p:spPr>
          <a:xfrm>
            <a:off x="7473672" y="3668554"/>
            <a:ext cx="2345531" cy="207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00"/>
              <a:buFont typeface="Heebo"/>
              <a:buNone/>
            </a:pPr>
            <a:r>
              <a:rPr b="0" i="0" lang="en-US" sz="12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4</a:t>
            </a:r>
            <a:endParaRPr b="0" i="0" sz="1200" u="none" cap="none" strike="noStrike"/>
          </a:p>
        </p:txBody>
      </p:sp>
      <p:sp>
        <p:nvSpPr>
          <p:cNvPr id="101" name="Google Shape;101;p2"/>
          <p:cNvSpPr/>
          <p:nvPr/>
        </p:nvSpPr>
        <p:spPr>
          <a:xfrm>
            <a:off x="10135910" y="3668554"/>
            <a:ext cx="2349341" cy="207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00"/>
              <a:buFont typeface="Heebo"/>
              <a:buNone/>
            </a:pPr>
            <a:r>
              <a:rPr b="0" i="0" lang="en-US" sz="12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8</a:t>
            </a:r>
            <a:endParaRPr b="0" i="0" sz="1200" u="none" cap="none" strike="noStrike"/>
          </a:p>
        </p:txBody>
      </p:sp>
      <p:sp>
        <p:nvSpPr>
          <p:cNvPr id="102" name="Google Shape;102;p2"/>
          <p:cNvSpPr/>
          <p:nvPr/>
        </p:nvSpPr>
        <p:spPr>
          <a:xfrm>
            <a:off x="1990606" y="3947041"/>
            <a:ext cx="10649188" cy="349210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2145387" y="4017764"/>
            <a:ext cx="2349341" cy="207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00"/>
              <a:buFont typeface="Heebo"/>
              <a:buNone/>
            </a:pPr>
            <a:r>
              <a:rPr b="0" i="0" lang="en-US" sz="12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3</a:t>
            </a:r>
            <a:endParaRPr b="0" i="0" sz="1200" u="none" cap="none" strike="noStrike"/>
          </a:p>
        </p:txBody>
      </p:sp>
      <p:sp>
        <p:nvSpPr>
          <p:cNvPr id="104" name="Google Shape;104;p2"/>
          <p:cNvSpPr/>
          <p:nvPr/>
        </p:nvSpPr>
        <p:spPr>
          <a:xfrm>
            <a:off x="4811435" y="4017764"/>
            <a:ext cx="2345531" cy="207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00"/>
              <a:buFont typeface="Heebo"/>
              <a:buNone/>
            </a:pPr>
            <a:r>
              <a:rPr b="0" i="0" lang="en-US" sz="12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5</a:t>
            </a:r>
            <a:endParaRPr b="0" i="0" sz="1200" u="none" cap="none" strike="noStrike"/>
          </a:p>
        </p:txBody>
      </p:sp>
      <p:sp>
        <p:nvSpPr>
          <p:cNvPr id="105" name="Google Shape;105;p2"/>
          <p:cNvSpPr/>
          <p:nvPr/>
        </p:nvSpPr>
        <p:spPr>
          <a:xfrm>
            <a:off x="7473672" y="4017764"/>
            <a:ext cx="2345531" cy="207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00"/>
              <a:buFont typeface="Heebo"/>
              <a:buNone/>
            </a:pPr>
            <a:r>
              <a:rPr b="0" i="0" lang="en-US" sz="12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9</a:t>
            </a:r>
            <a:endParaRPr b="0" i="0" sz="1200" u="none" cap="none" strike="noStrike"/>
          </a:p>
        </p:txBody>
      </p:sp>
      <p:sp>
        <p:nvSpPr>
          <p:cNvPr id="106" name="Google Shape;106;p2"/>
          <p:cNvSpPr/>
          <p:nvPr/>
        </p:nvSpPr>
        <p:spPr>
          <a:xfrm>
            <a:off x="10135910" y="4017764"/>
            <a:ext cx="2349341" cy="207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00"/>
              <a:buFont typeface="Heebo"/>
              <a:buNone/>
            </a:pPr>
            <a:r>
              <a:rPr b="0" i="0" lang="en-US" sz="12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15</a:t>
            </a:r>
            <a:endParaRPr b="0" i="0" sz="1200" u="none" cap="none" strike="noStrike"/>
          </a:p>
        </p:txBody>
      </p:sp>
      <p:sp>
        <p:nvSpPr>
          <p:cNvPr id="107" name="Google Shape;107;p2"/>
          <p:cNvSpPr/>
          <p:nvPr/>
        </p:nvSpPr>
        <p:spPr>
          <a:xfrm>
            <a:off x="1990606" y="4296251"/>
            <a:ext cx="10649188" cy="34921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2145387" y="4366974"/>
            <a:ext cx="2349341" cy="207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00"/>
              <a:buFont typeface="Heebo"/>
              <a:buNone/>
            </a:pPr>
            <a:r>
              <a:rPr b="0" i="0" lang="en-US" sz="12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4</a:t>
            </a:r>
            <a:endParaRPr b="0" i="0" sz="1200" u="none" cap="none" strike="noStrike"/>
          </a:p>
        </p:txBody>
      </p:sp>
      <p:sp>
        <p:nvSpPr>
          <p:cNvPr id="109" name="Google Shape;109;p2"/>
          <p:cNvSpPr/>
          <p:nvPr/>
        </p:nvSpPr>
        <p:spPr>
          <a:xfrm>
            <a:off x="4811435" y="4366974"/>
            <a:ext cx="2345531" cy="207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00"/>
              <a:buFont typeface="Heebo"/>
              <a:buNone/>
            </a:pPr>
            <a:r>
              <a:rPr b="0" i="0" lang="en-US" sz="12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4</a:t>
            </a:r>
            <a:endParaRPr b="0" i="0" sz="1200" u="none" cap="none" strike="noStrike"/>
          </a:p>
        </p:txBody>
      </p:sp>
      <p:sp>
        <p:nvSpPr>
          <p:cNvPr id="110" name="Google Shape;110;p2"/>
          <p:cNvSpPr/>
          <p:nvPr/>
        </p:nvSpPr>
        <p:spPr>
          <a:xfrm>
            <a:off x="7473672" y="4366974"/>
            <a:ext cx="2345531" cy="207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00"/>
              <a:buFont typeface="Heebo"/>
              <a:buNone/>
            </a:pPr>
            <a:r>
              <a:rPr b="0" i="0" lang="en-US" sz="12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16</a:t>
            </a:r>
            <a:endParaRPr b="0" i="0" sz="1200" u="none" cap="none" strike="noStrike"/>
          </a:p>
        </p:txBody>
      </p:sp>
      <p:sp>
        <p:nvSpPr>
          <p:cNvPr id="111" name="Google Shape;111;p2"/>
          <p:cNvSpPr/>
          <p:nvPr/>
        </p:nvSpPr>
        <p:spPr>
          <a:xfrm>
            <a:off x="10135910" y="4366974"/>
            <a:ext cx="2349341" cy="207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00"/>
              <a:buFont typeface="Heebo"/>
              <a:buNone/>
            </a:pPr>
            <a:r>
              <a:rPr b="0" i="0" lang="en-US" sz="12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16</a:t>
            </a:r>
            <a:endParaRPr b="0" i="0" sz="1200" u="none" cap="none" strike="noStrike"/>
          </a:p>
        </p:txBody>
      </p:sp>
      <p:sp>
        <p:nvSpPr>
          <p:cNvPr id="112" name="Google Shape;112;p2"/>
          <p:cNvSpPr/>
          <p:nvPr/>
        </p:nvSpPr>
        <p:spPr>
          <a:xfrm>
            <a:off x="1990606" y="4645462"/>
            <a:ext cx="10649188" cy="349210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"/>
          <p:cNvSpPr/>
          <p:nvPr/>
        </p:nvSpPr>
        <p:spPr>
          <a:xfrm>
            <a:off x="2145387" y="4716185"/>
            <a:ext cx="2349341" cy="207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00"/>
              <a:buFont typeface="Heebo"/>
              <a:buNone/>
            </a:pPr>
            <a:r>
              <a:rPr b="0" i="0" lang="en-US" sz="12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5</a:t>
            </a:r>
            <a:endParaRPr b="0" i="0" sz="1200" u="none" cap="none" strike="noStrike"/>
          </a:p>
        </p:txBody>
      </p:sp>
      <p:sp>
        <p:nvSpPr>
          <p:cNvPr id="114" name="Google Shape;114;p2"/>
          <p:cNvSpPr/>
          <p:nvPr/>
        </p:nvSpPr>
        <p:spPr>
          <a:xfrm>
            <a:off x="4811435" y="4716185"/>
            <a:ext cx="2345531" cy="207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00"/>
              <a:buFont typeface="Heebo"/>
              <a:buNone/>
            </a:pPr>
            <a:r>
              <a:rPr b="0" i="0" lang="en-US" sz="12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5</a:t>
            </a:r>
            <a:endParaRPr b="0" i="0" sz="1200" u="none" cap="none" strike="noStrike"/>
          </a:p>
        </p:txBody>
      </p:sp>
      <p:sp>
        <p:nvSpPr>
          <p:cNvPr id="115" name="Google Shape;115;p2"/>
          <p:cNvSpPr/>
          <p:nvPr/>
        </p:nvSpPr>
        <p:spPr>
          <a:xfrm>
            <a:off x="7473672" y="4716185"/>
            <a:ext cx="2345531" cy="207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00"/>
              <a:buFont typeface="Heebo"/>
              <a:buNone/>
            </a:pPr>
            <a:r>
              <a:rPr b="0" i="0" lang="en-US" sz="12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25</a:t>
            </a:r>
            <a:endParaRPr b="0" i="0" sz="1200" u="none" cap="none" strike="noStrike"/>
          </a:p>
        </p:txBody>
      </p:sp>
      <p:sp>
        <p:nvSpPr>
          <p:cNvPr id="116" name="Google Shape;116;p2"/>
          <p:cNvSpPr/>
          <p:nvPr/>
        </p:nvSpPr>
        <p:spPr>
          <a:xfrm>
            <a:off x="10135910" y="4716185"/>
            <a:ext cx="2349341" cy="207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00"/>
              <a:buFont typeface="Heebo"/>
              <a:buNone/>
            </a:pPr>
            <a:r>
              <a:rPr b="0" i="0" lang="en-US" sz="12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25</a:t>
            </a:r>
            <a:endParaRPr b="0" i="0" sz="1200" u="none" cap="none" strike="noStrike"/>
          </a:p>
        </p:txBody>
      </p:sp>
      <p:sp>
        <p:nvSpPr>
          <p:cNvPr id="117" name="Google Shape;117;p2"/>
          <p:cNvSpPr/>
          <p:nvPr/>
        </p:nvSpPr>
        <p:spPr>
          <a:xfrm>
            <a:off x="1990606" y="4994672"/>
            <a:ext cx="10649188" cy="34921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"/>
          <p:cNvSpPr/>
          <p:nvPr/>
        </p:nvSpPr>
        <p:spPr>
          <a:xfrm>
            <a:off x="2145387" y="5065395"/>
            <a:ext cx="2349341" cy="207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00"/>
              <a:buFont typeface="Heebo"/>
              <a:buNone/>
            </a:pPr>
            <a:r>
              <a:rPr b="1" i="0" lang="en-US" sz="12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Totals:</a:t>
            </a:r>
            <a:endParaRPr b="0" i="0" sz="1200" u="none" cap="none" strike="noStrike"/>
          </a:p>
        </p:txBody>
      </p:sp>
      <p:sp>
        <p:nvSpPr>
          <p:cNvPr id="119" name="Google Shape;119;p2"/>
          <p:cNvSpPr/>
          <p:nvPr/>
        </p:nvSpPr>
        <p:spPr>
          <a:xfrm>
            <a:off x="4811435" y="5065395"/>
            <a:ext cx="2345531" cy="207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120" name="Google Shape;120;p2"/>
          <p:cNvSpPr/>
          <p:nvPr/>
        </p:nvSpPr>
        <p:spPr>
          <a:xfrm>
            <a:off x="7473672" y="5065395"/>
            <a:ext cx="2345531" cy="207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121" name="Google Shape;121;p2"/>
          <p:cNvSpPr/>
          <p:nvPr/>
        </p:nvSpPr>
        <p:spPr>
          <a:xfrm>
            <a:off x="10135910" y="5065395"/>
            <a:ext cx="2349341" cy="207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t/>
            </a:r>
            <a:endParaRPr b="0" i="0" sz="1200" u="none" cap="none" strike="noStrike"/>
          </a:p>
        </p:txBody>
      </p:sp>
      <p:sp>
        <p:nvSpPr>
          <p:cNvPr id="122" name="Google Shape;122;p2"/>
          <p:cNvSpPr/>
          <p:nvPr/>
        </p:nvSpPr>
        <p:spPr>
          <a:xfrm>
            <a:off x="1982986" y="5547241"/>
            <a:ext cx="2567345" cy="509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4000"/>
              <a:buFont typeface="Crimson Pro SemiBold"/>
              <a:buNone/>
            </a:pPr>
            <a:r>
              <a:rPr b="1" i="0" lang="en-US" sz="400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15</a:t>
            </a:r>
            <a:endParaRPr b="0" i="0" sz="4000" u="none" cap="none" strike="noStrike"/>
          </a:p>
        </p:txBody>
      </p:sp>
      <p:sp>
        <p:nvSpPr>
          <p:cNvPr id="123" name="Google Shape;123;p2"/>
          <p:cNvSpPr/>
          <p:nvPr/>
        </p:nvSpPr>
        <p:spPr>
          <a:xfrm>
            <a:off x="2300645" y="6213396"/>
            <a:ext cx="1931908" cy="256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500"/>
              <a:buFont typeface="Crimson Pro SemiBold"/>
              <a:buNone/>
            </a:pPr>
            <a:r>
              <a:rPr b="1" i="1" lang="en-US" sz="150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\sum X</a:t>
            </a:r>
            <a:endParaRPr b="0" i="0" sz="1500" u="none" cap="none" strike="noStrike"/>
          </a:p>
        </p:txBody>
      </p:sp>
      <p:sp>
        <p:nvSpPr>
          <p:cNvPr id="124" name="Google Shape;124;p2"/>
          <p:cNvSpPr/>
          <p:nvPr/>
        </p:nvSpPr>
        <p:spPr>
          <a:xfrm>
            <a:off x="1982986" y="6533436"/>
            <a:ext cx="2567345" cy="207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00"/>
              <a:buFont typeface="Heebo"/>
              <a:buNone/>
            </a:pPr>
            <a:r>
              <a:rPr b="0" i="0" lang="en-US" sz="12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Sum of study hours</a:t>
            </a:r>
            <a:endParaRPr b="0" i="0" sz="1200" u="none" cap="none" strike="noStrike"/>
          </a:p>
        </p:txBody>
      </p:sp>
      <p:sp>
        <p:nvSpPr>
          <p:cNvPr id="125" name="Google Shape;125;p2"/>
          <p:cNvSpPr/>
          <p:nvPr/>
        </p:nvSpPr>
        <p:spPr>
          <a:xfrm>
            <a:off x="4681895" y="5547241"/>
            <a:ext cx="2567464" cy="509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4000"/>
              <a:buFont typeface="Crimson Pro SemiBold"/>
              <a:buNone/>
            </a:pPr>
            <a:r>
              <a:rPr b="1" i="0" lang="en-US" sz="400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20</a:t>
            </a:r>
            <a:endParaRPr b="0" i="0" sz="4000" u="none" cap="none" strike="noStrike"/>
          </a:p>
        </p:txBody>
      </p:sp>
      <p:sp>
        <p:nvSpPr>
          <p:cNvPr id="126" name="Google Shape;126;p2"/>
          <p:cNvSpPr/>
          <p:nvPr/>
        </p:nvSpPr>
        <p:spPr>
          <a:xfrm>
            <a:off x="4999673" y="6213396"/>
            <a:ext cx="1931908" cy="256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500"/>
              <a:buFont typeface="Crimson Pro SemiBold"/>
              <a:buNone/>
            </a:pPr>
            <a:r>
              <a:rPr b="1" i="1" lang="en-US" sz="150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\sum Y</a:t>
            </a:r>
            <a:endParaRPr b="0" i="0" sz="1500" u="none" cap="none" strike="noStrike"/>
          </a:p>
        </p:txBody>
      </p:sp>
      <p:sp>
        <p:nvSpPr>
          <p:cNvPr id="127" name="Google Shape;127;p2"/>
          <p:cNvSpPr/>
          <p:nvPr/>
        </p:nvSpPr>
        <p:spPr>
          <a:xfrm>
            <a:off x="4681895" y="6533436"/>
            <a:ext cx="2567464" cy="207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00"/>
              <a:buFont typeface="Heebo"/>
              <a:buNone/>
            </a:pPr>
            <a:r>
              <a:rPr b="0" i="0" lang="en-US" sz="12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Sum of test scores</a:t>
            </a:r>
            <a:endParaRPr b="0" i="0" sz="1200" u="none" cap="none" strike="noStrike"/>
          </a:p>
        </p:txBody>
      </p:sp>
      <p:sp>
        <p:nvSpPr>
          <p:cNvPr id="128" name="Google Shape;128;p2"/>
          <p:cNvSpPr/>
          <p:nvPr/>
        </p:nvSpPr>
        <p:spPr>
          <a:xfrm>
            <a:off x="7380923" y="5547241"/>
            <a:ext cx="2567464" cy="509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4000"/>
              <a:buFont typeface="Crimson Pro SemiBold"/>
              <a:buNone/>
            </a:pPr>
            <a:r>
              <a:rPr b="1" i="0" lang="en-US" sz="400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55</a:t>
            </a:r>
            <a:endParaRPr b="0" i="0" sz="4000" u="none" cap="none" strike="noStrike"/>
          </a:p>
        </p:txBody>
      </p:sp>
      <p:sp>
        <p:nvSpPr>
          <p:cNvPr id="129" name="Google Shape;129;p2"/>
          <p:cNvSpPr/>
          <p:nvPr/>
        </p:nvSpPr>
        <p:spPr>
          <a:xfrm>
            <a:off x="7698700" y="6213396"/>
            <a:ext cx="1931908" cy="256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500"/>
              <a:buFont typeface="Crimson Pro SemiBold"/>
              <a:buNone/>
            </a:pPr>
            <a:r>
              <a:rPr b="1" i="1" lang="en-US" sz="150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\sum X^2</a:t>
            </a:r>
            <a:endParaRPr b="0" i="0" sz="1500" u="none" cap="none" strike="noStrike"/>
          </a:p>
        </p:txBody>
      </p:sp>
      <p:sp>
        <p:nvSpPr>
          <p:cNvPr id="130" name="Google Shape;130;p2"/>
          <p:cNvSpPr/>
          <p:nvPr/>
        </p:nvSpPr>
        <p:spPr>
          <a:xfrm>
            <a:off x="7380923" y="6533436"/>
            <a:ext cx="2567464" cy="207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00"/>
              <a:buFont typeface="Heebo"/>
              <a:buNone/>
            </a:pPr>
            <a:r>
              <a:rPr b="0" i="0" lang="en-US" sz="12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Sum of squared hours</a:t>
            </a:r>
            <a:endParaRPr b="0" i="0" sz="1200" u="none" cap="none" strike="noStrike"/>
          </a:p>
        </p:txBody>
      </p:sp>
      <p:sp>
        <p:nvSpPr>
          <p:cNvPr id="131" name="Google Shape;131;p2"/>
          <p:cNvSpPr/>
          <p:nvPr/>
        </p:nvSpPr>
        <p:spPr>
          <a:xfrm>
            <a:off x="10079950" y="5547241"/>
            <a:ext cx="2567464" cy="509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4000"/>
              <a:buFont typeface="Crimson Pro SemiBold"/>
              <a:buNone/>
            </a:pPr>
            <a:r>
              <a:rPr b="1" i="0" lang="en-US" sz="400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66</a:t>
            </a:r>
            <a:endParaRPr b="0" i="0" sz="4000" u="none" cap="none" strike="noStrike"/>
          </a:p>
        </p:txBody>
      </p:sp>
      <p:sp>
        <p:nvSpPr>
          <p:cNvPr id="132" name="Google Shape;132;p2"/>
          <p:cNvSpPr/>
          <p:nvPr/>
        </p:nvSpPr>
        <p:spPr>
          <a:xfrm>
            <a:off x="10397728" y="6213396"/>
            <a:ext cx="1931908" cy="256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500"/>
              <a:buFont typeface="Crimson Pro SemiBold"/>
              <a:buNone/>
            </a:pPr>
            <a:r>
              <a:rPr b="1" i="1" lang="en-US" sz="150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\sum XY</a:t>
            </a:r>
            <a:endParaRPr b="0" i="0" sz="1500" u="none" cap="none" strike="noStrike"/>
          </a:p>
        </p:txBody>
      </p:sp>
      <p:sp>
        <p:nvSpPr>
          <p:cNvPr id="133" name="Google Shape;133;p2"/>
          <p:cNvSpPr/>
          <p:nvPr/>
        </p:nvSpPr>
        <p:spPr>
          <a:xfrm>
            <a:off x="10079950" y="6533436"/>
            <a:ext cx="2567464" cy="207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00"/>
              <a:buFont typeface="Heebo"/>
              <a:buNone/>
            </a:pPr>
            <a:r>
              <a:rPr b="0" i="0" lang="en-US" sz="12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Sum of products</a:t>
            </a:r>
            <a:endParaRPr b="0" i="0" sz="1200" u="none" cap="none" strike="noStrike"/>
          </a:p>
        </p:txBody>
      </p:sp>
      <p:sp>
        <p:nvSpPr>
          <p:cNvPr id="134" name="Google Shape;134;p2"/>
          <p:cNvSpPr/>
          <p:nvPr/>
        </p:nvSpPr>
        <p:spPr>
          <a:xfrm>
            <a:off x="1982986" y="6859667"/>
            <a:ext cx="10664428" cy="207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00"/>
              <a:buFont typeface="Heebo"/>
              <a:buNone/>
            </a:pPr>
            <a:r>
              <a:rPr b="0" i="0" lang="en-US" sz="12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These sums form the foundation for calculating the slope and intercept of our regression line. Each value plays a specific role in the formulas we'll use next.</a:t>
            </a:r>
            <a:endParaRPr b="0" i="0" sz="12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"/>
          <p:cNvSpPr/>
          <p:nvPr/>
        </p:nvSpPr>
        <p:spPr>
          <a:xfrm>
            <a:off x="3003113" y="635079"/>
            <a:ext cx="469463" cy="198834"/>
          </a:xfrm>
          <a:prstGeom prst="roundRect">
            <a:avLst>
              <a:gd fmla="val 7543" name="adj"/>
            </a:avLst>
          </a:prstGeom>
          <a:solidFill>
            <a:srgbClr val="CCD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3078004" y="672465"/>
            <a:ext cx="319683" cy="1240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50"/>
              <a:buFont typeface="Heebo"/>
              <a:buNone/>
            </a:pPr>
            <a:r>
              <a:rPr b="0" i="0" lang="en-US" sz="7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STEP 2</a:t>
            </a:r>
            <a:endParaRPr b="0" i="0" sz="750" u="none" cap="none" strike="noStrike"/>
          </a:p>
        </p:txBody>
      </p:sp>
      <p:sp>
        <p:nvSpPr>
          <p:cNvPr id="142" name="Google Shape;142;p3"/>
          <p:cNvSpPr/>
          <p:nvPr/>
        </p:nvSpPr>
        <p:spPr>
          <a:xfrm>
            <a:off x="3003113" y="861417"/>
            <a:ext cx="3124557" cy="409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8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450"/>
              <a:buFont typeface="Crimson Pro SemiBold"/>
              <a:buNone/>
            </a:pPr>
            <a:r>
              <a:rPr b="1" i="0" lang="en-US" sz="24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Calculate the Slope (</a:t>
            </a:r>
            <a:r>
              <a:rPr b="1" i="1" lang="en-US" sz="24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\beta_1</a:t>
            </a:r>
            <a:r>
              <a:rPr b="1" i="0" lang="en-US" sz="24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)</a:t>
            </a:r>
            <a:endParaRPr b="0" i="0" sz="2450" u="none" cap="none" strike="noStrike"/>
          </a:p>
        </p:txBody>
      </p:sp>
      <p:sp>
        <p:nvSpPr>
          <p:cNvPr id="143" name="Google Shape;143;p3"/>
          <p:cNvSpPr/>
          <p:nvPr/>
        </p:nvSpPr>
        <p:spPr>
          <a:xfrm>
            <a:off x="3003113" y="1373743"/>
            <a:ext cx="8624054" cy="155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950"/>
              <a:buFont typeface="Heebo"/>
              <a:buNone/>
            </a:pPr>
            <a:r>
              <a:rPr b="0" i="0" lang="en-US" sz="9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The slope tells us how much the test score changes for each additional hour of study. We calculate it using the </a:t>
            </a:r>
            <a:r>
              <a:rPr b="0" i="0" lang="en-US" sz="950" u="sng" cap="none" strike="noStrike">
                <a:solidFill>
                  <a:srgbClr val="2150FE"/>
                </a:solidFill>
                <a:latin typeface="Heebo"/>
                <a:ea typeface="Heebo"/>
                <a:cs typeface="Heebo"/>
                <a:sym typeface="Heeb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simple linear regression formula</a:t>
            </a:r>
            <a:r>
              <a:rPr b="0" i="0" lang="en-US" sz="9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.</a:t>
            </a:r>
            <a:endParaRPr b="0" i="0" sz="950" u="none" cap="none" strike="noStrike"/>
          </a:p>
        </p:txBody>
      </p:sp>
      <p:pic>
        <p:nvPicPr>
          <p:cNvPr descr="preencoded.png" id="144" name="Google Shape;14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03113" y="1683544"/>
            <a:ext cx="3713083" cy="371308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3"/>
          <p:cNvSpPr/>
          <p:nvPr/>
        </p:nvSpPr>
        <p:spPr>
          <a:xfrm>
            <a:off x="7028617" y="1674971"/>
            <a:ext cx="1874758" cy="234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1450"/>
              <a:buFont typeface="Crimson Pro SemiBold"/>
              <a:buNone/>
            </a:pPr>
            <a:r>
              <a:rPr b="1" i="0" lang="en-US" sz="14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The Slope Formula</a:t>
            </a:r>
            <a:endParaRPr b="0" i="0" sz="1450" u="none" cap="none" strike="noStrike"/>
          </a:p>
        </p:txBody>
      </p:sp>
      <p:sp>
        <p:nvSpPr>
          <p:cNvPr id="146" name="Google Shape;146;p3"/>
          <p:cNvSpPr/>
          <p:nvPr/>
        </p:nvSpPr>
        <p:spPr>
          <a:xfrm>
            <a:off x="7028617" y="1996440"/>
            <a:ext cx="4606052" cy="401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  <p:pic>
        <p:nvPicPr>
          <p:cNvPr descr="preencoded.png" id="147" name="Google Shape;14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28617" y="1996440"/>
            <a:ext cx="4606052" cy="40195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"/>
          <p:cNvSpPr/>
          <p:nvPr/>
        </p:nvSpPr>
        <p:spPr>
          <a:xfrm>
            <a:off x="7028617" y="2485549"/>
            <a:ext cx="4606052" cy="310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950"/>
              <a:buFont typeface="Heebo"/>
              <a:buNone/>
            </a:pPr>
            <a:r>
              <a:rPr b="0" i="0" lang="en-US" sz="9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This formula measures the strength and direction of the linear relationship between our variables.</a:t>
            </a:r>
            <a:endParaRPr b="0" i="0" sz="950" u="none" cap="none" strike="noStrike"/>
          </a:p>
        </p:txBody>
      </p:sp>
      <p:sp>
        <p:nvSpPr>
          <p:cNvPr id="149" name="Google Shape;149;p3"/>
          <p:cNvSpPr/>
          <p:nvPr/>
        </p:nvSpPr>
        <p:spPr>
          <a:xfrm>
            <a:off x="3003113" y="5577245"/>
            <a:ext cx="1874758" cy="234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1450"/>
              <a:buFont typeface="Crimson Pro SemiBold"/>
              <a:buNone/>
            </a:pPr>
            <a:r>
              <a:rPr b="1" i="0" lang="en-US" sz="14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Plugging in Our Values</a:t>
            </a:r>
            <a:endParaRPr b="0" i="0" sz="1450" u="none" cap="none" strike="noStrike"/>
          </a:p>
        </p:txBody>
      </p:sp>
      <p:sp>
        <p:nvSpPr>
          <p:cNvPr id="150" name="Google Shape;150;p3"/>
          <p:cNvSpPr/>
          <p:nvPr/>
        </p:nvSpPr>
        <p:spPr>
          <a:xfrm>
            <a:off x="3003113" y="5914787"/>
            <a:ext cx="124897" cy="156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950"/>
              <a:buFont typeface="Crimson Pro Light"/>
              <a:buNone/>
            </a:pPr>
            <a:r>
              <a:rPr b="0" i="0" lang="en-US" sz="950" u="none" cap="none" strike="noStrike">
                <a:solidFill>
                  <a:srgbClr val="4C4C4D"/>
                </a:solidFill>
                <a:latin typeface="Crimson Pro Light"/>
                <a:ea typeface="Crimson Pro Light"/>
                <a:cs typeface="Crimson Pro Light"/>
                <a:sym typeface="Crimson Pro Light"/>
              </a:rPr>
              <a:t>01</a:t>
            </a:r>
            <a:endParaRPr b="0" i="0" sz="950" u="none" cap="none" strike="noStrike"/>
          </a:p>
        </p:txBody>
      </p:sp>
      <p:sp>
        <p:nvSpPr>
          <p:cNvPr id="151" name="Google Shape;151;p3"/>
          <p:cNvSpPr/>
          <p:nvPr/>
        </p:nvSpPr>
        <p:spPr>
          <a:xfrm>
            <a:off x="3003113" y="6111835"/>
            <a:ext cx="2828806" cy="15240"/>
          </a:xfrm>
          <a:prstGeom prst="rect">
            <a:avLst/>
          </a:prstGeom>
          <a:solidFill>
            <a:srgbClr val="215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"/>
          <p:cNvSpPr/>
          <p:nvPr/>
        </p:nvSpPr>
        <p:spPr>
          <a:xfrm>
            <a:off x="3003113" y="6204704"/>
            <a:ext cx="1562219" cy="195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00"/>
              <a:buFont typeface="Crimson Pro SemiBold"/>
              <a:buNone/>
            </a:pPr>
            <a:r>
              <a:rPr b="1" i="0" lang="en-US" sz="120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Substitute the sums</a:t>
            </a:r>
            <a:endParaRPr b="0" i="0" sz="1200" u="none" cap="none" strike="noStrike"/>
          </a:p>
        </p:txBody>
      </p:sp>
      <p:sp>
        <p:nvSpPr>
          <p:cNvPr id="153" name="Google Shape;153;p3"/>
          <p:cNvSpPr/>
          <p:nvPr/>
        </p:nvSpPr>
        <p:spPr>
          <a:xfrm>
            <a:off x="3003125" y="6107941"/>
            <a:ext cx="28287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  <p:pic>
        <p:nvPicPr>
          <p:cNvPr descr="preencoded.png" id="154" name="Google Shape;15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03113" y="6487120"/>
            <a:ext cx="2828806" cy="40195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"/>
          <p:cNvSpPr/>
          <p:nvPr/>
        </p:nvSpPr>
        <p:spPr>
          <a:xfrm>
            <a:off x="5900738" y="5914787"/>
            <a:ext cx="124897" cy="156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950"/>
              <a:buFont typeface="Crimson Pro Light"/>
              <a:buNone/>
            </a:pPr>
            <a:r>
              <a:rPr b="0" i="0" lang="en-US" sz="950" u="none" cap="none" strike="noStrike">
                <a:solidFill>
                  <a:srgbClr val="4C4C4D"/>
                </a:solidFill>
                <a:latin typeface="Crimson Pro Light"/>
                <a:ea typeface="Crimson Pro Light"/>
                <a:cs typeface="Crimson Pro Light"/>
                <a:sym typeface="Crimson Pro Light"/>
              </a:rPr>
              <a:t>02</a:t>
            </a:r>
            <a:endParaRPr b="0" i="0" sz="950" u="none" cap="none" strike="noStrike"/>
          </a:p>
        </p:txBody>
      </p:sp>
      <p:sp>
        <p:nvSpPr>
          <p:cNvPr id="156" name="Google Shape;156;p3"/>
          <p:cNvSpPr/>
          <p:nvPr/>
        </p:nvSpPr>
        <p:spPr>
          <a:xfrm>
            <a:off x="5900738" y="6111835"/>
            <a:ext cx="2828806" cy="15240"/>
          </a:xfrm>
          <a:prstGeom prst="rect">
            <a:avLst/>
          </a:prstGeom>
          <a:solidFill>
            <a:srgbClr val="215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"/>
          <p:cNvSpPr/>
          <p:nvPr/>
        </p:nvSpPr>
        <p:spPr>
          <a:xfrm>
            <a:off x="5900738" y="6204704"/>
            <a:ext cx="2494121" cy="195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00"/>
              <a:buFont typeface="Crimson Pro SemiBold"/>
              <a:buNone/>
            </a:pPr>
            <a:r>
              <a:rPr b="1" i="0" lang="en-US" sz="120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Calculate numerator and denominator</a:t>
            </a:r>
            <a:endParaRPr b="0" i="0" sz="1200" u="none" cap="none" strike="noStrike"/>
          </a:p>
        </p:txBody>
      </p:sp>
      <p:sp>
        <p:nvSpPr>
          <p:cNvPr id="158" name="Google Shape;158;p3"/>
          <p:cNvSpPr/>
          <p:nvPr/>
        </p:nvSpPr>
        <p:spPr>
          <a:xfrm>
            <a:off x="5900738" y="6487120"/>
            <a:ext cx="2828806" cy="355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  <p:pic>
        <p:nvPicPr>
          <p:cNvPr descr="preencoded.png" id="159" name="Google Shape;159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00738" y="6487120"/>
            <a:ext cx="2828806" cy="35564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3"/>
          <p:cNvSpPr/>
          <p:nvPr/>
        </p:nvSpPr>
        <p:spPr>
          <a:xfrm>
            <a:off x="8798362" y="5914787"/>
            <a:ext cx="124897" cy="156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950"/>
              <a:buFont typeface="Crimson Pro Light"/>
              <a:buNone/>
            </a:pPr>
            <a:r>
              <a:rPr b="0" i="0" lang="en-US" sz="950" u="none" cap="none" strike="noStrike">
                <a:solidFill>
                  <a:srgbClr val="4C4C4D"/>
                </a:solidFill>
                <a:latin typeface="Crimson Pro Light"/>
                <a:ea typeface="Crimson Pro Light"/>
                <a:cs typeface="Crimson Pro Light"/>
                <a:sym typeface="Crimson Pro Light"/>
              </a:rPr>
              <a:t>03</a:t>
            </a:r>
            <a:endParaRPr b="0" i="0" sz="950" u="none" cap="none" strike="noStrike"/>
          </a:p>
        </p:txBody>
      </p:sp>
      <p:sp>
        <p:nvSpPr>
          <p:cNvPr id="161" name="Google Shape;161;p3"/>
          <p:cNvSpPr/>
          <p:nvPr/>
        </p:nvSpPr>
        <p:spPr>
          <a:xfrm>
            <a:off x="8798362" y="6111835"/>
            <a:ext cx="2828806" cy="15240"/>
          </a:xfrm>
          <a:prstGeom prst="rect">
            <a:avLst/>
          </a:prstGeom>
          <a:solidFill>
            <a:srgbClr val="215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"/>
          <p:cNvSpPr/>
          <p:nvPr/>
        </p:nvSpPr>
        <p:spPr>
          <a:xfrm>
            <a:off x="8798362" y="6204704"/>
            <a:ext cx="1636276" cy="195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00"/>
              <a:buFont typeface="Crimson Pro SemiBold"/>
              <a:buNone/>
            </a:pPr>
            <a:r>
              <a:rPr b="1" i="0" lang="en-US" sz="120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Simplify to get final slope</a:t>
            </a:r>
            <a:endParaRPr b="0" i="0" sz="1200" u="none" cap="none" strike="noStrike"/>
          </a:p>
        </p:txBody>
      </p:sp>
      <p:sp>
        <p:nvSpPr>
          <p:cNvPr id="163" name="Google Shape;163;p3"/>
          <p:cNvSpPr/>
          <p:nvPr/>
        </p:nvSpPr>
        <p:spPr>
          <a:xfrm>
            <a:off x="8798362" y="6487120"/>
            <a:ext cx="2828806" cy="219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  <p:pic>
        <p:nvPicPr>
          <p:cNvPr descr="preencoded.png" id="164" name="Google Shape;164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98362" y="6487120"/>
            <a:ext cx="2828806" cy="219313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3"/>
          <p:cNvSpPr/>
          <p:nvPr/>
        </p:nvSpPr>
        <p:spPr>
          <a:xfrm>
            <a:off x="3003113" y="7060168"/>
            <a:ext cx="8624054" cy="534352"/>
          </a:xfrm>
          <a:prstGeom prst="roundRect">
            <a:avLst>
              <a:gd fmla="val 3509" name="adj"/>
            </a:avLst>
          </a:prstGeom>
          <a:solidFill>
            <a:srgbClr val="B3C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" name="Google Shape;166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28010" y="7221260"/>
            <a:ext cx="156210" cy="124897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"/>
          <p:cNvSpPr/>
          <p:nvPr/>
        </p:nvSpPr>
        <p:spPr>
          <a:xfrm>
            <a:off x="3409117" y="7160181"/>
            <a:ext cx="8093154" cy="310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Heebo"/>
              <a:buNone/>
            </a:pPr>
            <a:r>
              <a:rPr b="1" i="0" lang="en-US" sz="950" u="none" cap="none" strike="noStrike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Interpretation:</a:t>
            </a:r>
            <a:r>
              <a:rPr b="0" i="0" lang="en-US" sz="950" u="none" cap="none" strike="noStrike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 For every additional hour studied, the test score increases by </a:t>
            </a:r>
            <a:r>
              <a:rPr b="1" i="0" lang="en-US" sz="950" u="none" cap="none" strike="noStrike">
                <a:solidFill>
                  <a:srgbClr val="2150FE"/>
                </a:solidFill>
                <a:latin typeface="Heebo"/>
                <a:ea typeface="Heebo"/>
                <a:cs typeface="Heebo"/>
                <a:sym typeface="Heebo"/>
              </a:rPr>
              <a:t>0.6 points</a:t>
            </a:r>
            <a:r>
              <a:rPr b="0" i="0" lang="en-US" sz="950" u="none" cap="none" strike="noStrike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 on average. This positive slope confirms our intuition that more study time leads to better performance.</a:t>
            </a:r>
            <a:endParaRPr b="0" i="0" sz="9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"/>
          <p:cNvSpPr/>
          <p:nvPr/>
        </p:nvSpPr>
        <p:spPr>
          <a:xfrm>
            <a:off x="2126933" y="639008"/>
            <a:ext cx="564713" cy="249912"/>
          </a:xfrm>
          <a:prstGeom prst="roundRect">
            <a:avLst>
              <a:gd fmla="val 7221" name="adj"/>
            </a:avLst>
          </a:prstGeom>
          <a:solidFill>
            <a:srgbClr val="CCD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2217063" y="684014"/>
            <a:ext cx="384453" cy="159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900"/>
              <a:buFont typeface="Heebo"/>
              <a:buNone/>
            </a:pPr>
            <a:r>
              <a:rPr b="0" i="0" lang="en-US" sz="9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STEP 3</a:t>
            </a:r>
            <a:endParaRPr b="0" i="0" sz="900" u="none" cap="none" strike="noStrike"/>
          </a:p>
        </p:txBody>
      </p:sp>
      <p:sp>
        <p:nvSpPr>
          <p:cNvPr id="175" name="Google Shape;175;p4"/>
          <p:cNvSpPr/>
          <p:nvPr/>
        </p:nvSpPr>
        <p:spPr>
          <a:xfrm>
            <a:off x="372583" y="961100"/>
            <a:ext cx="4260600" cy="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23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950"/>
              <a:buFont typeface="Crimson Pro SemiBold"/>
              <a:buNone/>
            </a:pPr>
            <a:r>
              <a:rPr b="1" i="0" lang="en-US" sz="29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Calculate the Intercept (</a:t>
            </a:r>
            <a:r>
              <a:rPr b="1" i="1" lang="en-US" sz="29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\beta_0</a:t>
            </a:r>
            <a:r>
              <a:rPr b="1" i="0" lang="en-US" sz="29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)</a:t>
            </a:r>
            <a:endParaRPr b="0" i="0" sz="2950" u="none" cap="none" strike="noStrike"/>
          </a:p>
        </p:txBody>
      </p:sp>
      <p:sp>
        <p:nvSpPr>
          <p:cNvPr id="176" name="Google Shape;176;p4"/>
          <p:cNvSpPr/>
          <p:nvPr/>
        </p:nvSpPr>
        <p:spPr>
          <a:xfrm>
            <a:off x="2126933" y="1572339"/>
            <a:ext cx="1037641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50"/>
              <a:buFont typeface="Heebo"/>
              <a:buNone/>
            </a:pPr>
            <a:r>
              <a:rPr b="0" i="0" lang="en-US" sz="11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The intercept represents the predicted test score when study hours equal zero. We use the </a:t>
            </a:r>
            <a:r>
              <a:rPr b="0" i="0" lang="en-US" sz="1150" u="sng" cap="none" strike="noStrike">
                <a:solidFill>
                  <a:srgbClr val="2150FE"/>
                </a:solidFill>
                <a:latin typeface="Heebo"/>
                <a:ea typeface="Heebo"/>
                <a:cs typeface="Heebo"/>
                <a:sym typeface="Heeb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intercept formula</a:t>
            </a:r>
            <a:r>
              <a:rPr b="0" i="0" lang="en-US" sz="11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to find this value.</a:t>
            </a:r>
            <a:endParaRPr b="0" i="0" sz="1150" u="none" cap="none" strike="noStrike"/>
          </a:p>
        </p:txBody>
      </p:sp>
      <p:sp>
        <p:nvSpPr>
          <p:cNvPr id="177" name="Google Shape;177;p4"/>
          <p:cNvSpPr/>
          <p:nvPr/>
        </p:nvSpPr>
        <p:spPr>
          <a:xfrm>
            <a:off x="2126933" y="1984177"/>
            <a:ext cx="2255639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1750"/>
              <a:buFont typeface="Crimson Pro SemiBold"/>
              <a:buNone/>
            </a:pPr>
            <a:r>
              <a:rPr b="1" i="0" lang="en-US" sz="17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The Intercept Formula</a:t>
            </a:r>
            <a:endParaRPr b="0" i="0" sz="1750" u="none" cap="none" strike="noStrike"/>
          </a:p>
        </p:txBody>
      </p:sp>
      <p:sp>
        <p:nvSpPr>
          <p:cNvPr id="178" name="Google Shape;178;p4"/>
          <p:cNvSpPr/>
          <p:nvPr/>
        </p:nvSpPr>
        <p:spPr>
          <a:xfrm>
            <a:off x="2126933" y="2392204"/>
            <a:ext cx="5542002" cy="432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615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r>
              <a:t/>
            </a:r>
            <a:endParaRPr b="0" i="0" sz="1300" u="none" cap="none" strike="noStrike"/>
          </a:p>
        </p:txBody>
      </p:sp>
      <p:pic>
        <p:nvPicPr>
          <p:cNvPr descr="preencoded.png" id="179" name="Google Shape;17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6933" y="2392204"/>
            <a:ext cx="5542002" cy="43243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4"/>
          <p:cNvSpPr/>
          <p:nvPr/>
        </p:nvSpPr>
        <p:spPr>
          <a:xfrm>
            <a:off x="2126933" y="2950726"/>
            <a:ext cx="554200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50"/>
              <a:buFont typeface="Heebo"/>
              <a:buNone/>
            </a:pPr>
            <a:r>
              <a:rPr b="0" i="0" lang="en-US" sz="11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This formula uses the means of our variables and the slope we just calculated to find where the regression line crosses the Y-axis.</a:t>
            </a:r>
            <a:endParaRPr b="0" i="0" sz="1150" u="none" cap="none" strike="noStrike"/>
          </a:p>
        </p:txBody>
      </p:sp>
      <p:sp>
        <p:nvSpPr>
          <p:cNvPr id="181" name="Google Shape;181;p4"/>
          <p:cNvSpPr/>
          <p:nvPr/>
        </p:nvSpPr>
        <p:spPr>
          <a:xfrm>
            <a:off x="2126933" y="3450431"/>
            <a:ext cx="2344936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1750"/>
              <a:buFont typeface="Crimson Pro SemiBold"/>
              <a:buNone/>
            </a:pPr>
            <a:r>
              <a:rPr b="1" i="0" lang="en-US" sz="17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Step-by-Step Calculation</a:t>
            </a:r>
            <a:endParaRPr b="0" i="0" sz="1750" u="none" cap="none" strike="noStrike"/>
          </a:p>
        </p:txBody>
      </p:sp>
      <p:pic>
        <p:nvPicPr>
          <p:cNvPr descr="preencoded.png" id="182" name="Google Shape;18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22858" y="3844541"/>
            <a:ext cx="751880" cy="109418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4"/>
          <p:cNvSpPr/>
          <p:nvPr/>
        </p:nvSpPr>
        <p:spPr>
          <a:xfrm>
            <a:off x="2978468" y="3994904"/>
            <a:ext cx="1879759" cy="234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450"/>
              <a:buFont typeface="Crimson Pro SemiBold"/>
              <a:buNone/>
            </a:pPr>
            <a:r>
              <a:rPr b="1" i="0" lang="en-US" sz="145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Insert values</a:t>
            </a:r>
            <a:endParaRPr b="0" i="0" sz="1450" u="none" cap="none" strike="noStrike"/>
          </a:p>
        </p:txBody>
      </p:sp>
      <p:sp>
        <p:nvSpPr>
          <p:cNvPr id="184" name="Google Shape;184;p4"/>
          <p:cNvSpPr/>
          <p:nvPr/>
        </p:nvSpPr>
        <p:spPr>
          <a:xfrm>
            <a:off x="2978468" y="4355902"/>
            <a:ext cx="4690467" cy="432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615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r>
              <a:t/>
            </a:r>
            <a:endParaRPr b="0" i="0" sz="1300" u="none" cap="none" strike="noStrike"/>
          </a:p>
        </p:txBody>
      </p:sp>
      <p:pic>
        <p:nvPicPr>
          <p:cNvPr descr="preencoded.png" id="185" name="Google Shape;185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78468" y="4355902"/>
            <a:ext cx="4690467" cy="432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6" name="Google Shape;186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22858" y="4938713"/>
            <a:ext cx="751880" cy="107263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4"/>
          <p:cNvSpPr/>
          <p:nvPr/>
        </p:nvSpPr>
        <p:spPr>
          <a:xfrm>
            <a:off x="2978468" y="5089088"/>
            <a:ext cx="1879759" cy="234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450"/>
              <a:buFont typeface="Crimson Pro SemiBold"/>
              <a:buNone/>
            </a:pPr>
            <a:r>
              <a:rPr b="1" i="0" lang="en-US" sz="145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Multiply</a:t>
            </a:r>
            <a:endParaRPr b="0" i="0" sz="1450" u="none" cap="none" strike="noStrike"/>
          </a:p>
        </p:txBody>
      </p:sp>
      <p:sp>
        <p:nvSpPr>
          <p:cNvPr id="188" name="Google Shape;188;p4"/>
          <p:cNvSpPr/>
          <p:nvPr/>
        </p:nvSpPr>
        <p:spPr>
          <a:xfrm>
            <a:off x="2978468" y="5450086"/>
            <a:ext cx="4690467" cy="410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615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r>
              <a:t/>
            </a:r>
            <a:endParaRPr b="0" i="0" sz="1300" u="none" cap="none" strike="noStrike"/>
          </a:p>
        </p:txBody>
      </p:sp>
      <p:pic>
        <p:nvPicPr>
          <p:cNvPr descr="preencoded.png" id="189" name="Google Shape;189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78468" y="5450086"/>
            <a:ext cx="4690467" cy="4108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0" name="Google Shape;190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22858" y="6011347"/>
            <a:ext cx="751880" cy="1072634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4"/>
          <p:cNvSpPr/>
          <p:nvPr/>
        </p:nvSpPr>
        <p:spPr>
          <a:xfrm>
            <a:off x="2978468" y="6161723"/>
            <a:ext cx="1879759" cy="234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450"/>
              <a:buFont typeface="Crimson Pro SemiBold"/>
              <a:buNone/>
            </a:pPr>
            <a:r>
              <a:rPr b="1" i="0" lang="en-US" sz="145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Simplify</a:t>
            </a:r>
            <a:endParaRPr b="0" i="0" sz="1450" u="none" cap="none" strike="noStrike"/>
          </a:p>
        </p:txBody>
      </p:sp>
      <p:sp>
        <p:nvSpPr>
          <p:cNvPr id="192" name="Google Shape;192;p4"/>
          <p:cNvSpPr/>
          <p:nvPr/>
        </p:nvSpPr>
        <p:spPr>
          <a:xfrm>
            <a:off x="2978468" y="6522720"/>
            <a:ext cx="4690467" cy="410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615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r>
              <a:t/>
            </a:r>
            <a:endParaRPr b="0" i="0" sz="1300" u="none" cap="none" strike="noStrike"/>
          </a:p>
        </p:txBody>
      </p:sp>
      <p:pic>
        <p:nvPicPr>
          <p:cNvPr descr="preencoded.png" id="193" name="Google Shape;193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978468" y="6522720"/>
            <a:ext cx="4690467" cy="4108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4" name="Google Shape;194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43267" y="1996678"/>
            <a:ext cx="4467582" cy="446758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4"/>
          <p:cNvSpPr/>
          <p:nvPr/>
        </p:nvSpPr>
        <p:spPr>
          <a:xfrm>
            <a:off x="8043267" y="6576417"/>
            <a:ext cx="4467582" cy="902018"/>
          </a:xfrm>
          <a:prstGeom prst="roundRect">
            <a:avLst>
              <a:gd fmla="val 2501" name="adj"/>
            </a:avLst>
          </a:prstGeom>
          <a:solidFill>
            <a:srgbClr val="B3C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6" name="Google Shape;196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193643" y="6777395"/>
            <a:ext cx="187881" cy="15037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4"/>
          <p:cNvSpPr/>
          <p:nvPr/>
        </p:nvSpPr>
        <p:spPr>
          <a:xfrm>
            <a:off x="8531900" y="6713577"/>
            <a:ext cx="3828574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Heebo"/>
              <a:buNone/>
            </a:pPr>
            <a:r>
              <a:rPr b="1" i="0" lang="en-US" sz="1150" u="none" cap="none" strike="noStrike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What does this mean?</a:t>
            </a:r>
            <a:r>
              <a:rPr b="0" i="0" lang="en-US" sz="1150" u="none" cap="none" strike="noStrike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 The intercept of </a:t>
            </a:r>
            <a:r>
              <a:rPr b="1" i="0" lang="en-US" sz="1150" u="none" cap="none" strike="noStrike">
                <a:solidFill>
                  <a:srgbClr val="2150FE"/>
                </a:solidFill>
                <a:latin typeface="Heebo"/>
                <a:ea typeface="Heebo"/>
                <a:cs typeface="Heebo"/>
                <a:sym typeface="Heebo"/>
              </a:rPr>
              <a:t>2.2</a:t>
            </a:r>
            <a:r>
              <a:rPr b="0" i="0" lang="en-US" sz="1150" u="none" cap="none" strike="noStrike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 suggests a baseline score even with zero study hours—perhaps reflecting guessing or prior knowledge.</a:t>
            </a:r>
            <a:endParaRPr b="0" i="0" sz="11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"/>
          <p:cNvSpPr/>
          <p:nvPr/>
        </p:nvSpPr>
        <p:spPr>
          <a:xfrm>
            <a:off x="3402449" y="311825"/>
            <a:ext cx="622459" cy="176689"/>
          </a:xfrm>
          <a:prstGeom prst="roundRect">
            <a:avLst>
              <a:gd fmla="val 7703" name="adj"/>
            </a:avLst>
          </a:prstGeom>
          <a:solidFill>
            <a:srgbClr val="CCD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3470434" y="345758"/>
            <a:ext cx="486489" cy="1088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700"/>
              <a:buFont typeface="Heebo"/>
              <a:buNone/>
            </a:pPr>
            <a:r>
              <a:rPr b="0" i="0" lang="en-US" sz="70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FINAL STEP</a:t>
            </a:r>
            <a:endParaRPr b="0" i="0" sz="700" u="none" cap="none" strike="noStrike"/>
          </a:p>
        </p:txBody>
      </p:sp>
      <p:sp>
        <p:nvSpPr>
          <p:cNvPr id="205" name="Google Shape;205;p5"/>
          <p:cNvSpPr/>
          <p:nvPr/>
        </p:nvSpPr>
        <p:spPr>
          <a:xfrm>
            <a:off x="318924" y="342435"/>
            <a:ext cx="47940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200"/>
              <a:buFont typeface="Crimson Pro SemiBold"/>
              <a:buNone/>
            </a:pPr>
            <a:r>
              <a:rPr b="1" i="0" lang="en-US" sz="220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Form the Equation and Make Predictions</a:t>
            </a:r>
            <a:endParaRPr b="0" i="0" sz="2200" u="none" cap="none" strike="noStrike"/>
          </a:p>
        </p:txBody>
      </p:sp>
      <p:sp>
        <p:nvSpPr>
          <p:cNvPr id="206" name="Google Shape;206;p5"/>
          <p:cNvSpPr/>
          <p:nvPr/>
        </p:nvSpPr>
        <p:spPr>
          <a:xfrm>
            <a:off x="3402449" y="950476"/>
            <a:ext cx="7825502" cy="136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850"/>
              <a:buFont typeface="Heebo"/>
              <a:buNone/>
            </a:pPr>
            <a:r>
              <a:rPr b="0" i="0" lang="en-US" sz="8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Now we combine our slope and intercept to create the complete regression equation, then use it to predict test scores for any number of study hours.</a:t>
            </a:r>
            <a:endParaRPr b="0" i="0" sz="850" u="none" cap="none" strike="noStrike"/>
          </a:p>
        </p:txBody>
      </p:sp>
      <p:sp>
        <p:nvSpPr>
          <p:cNvPr id="207" name="Google Shape;207;p5"/>
          <p:cNvSpPr/>
          <p:nvPr/>
        </p:nvSpPr>
        <p:spPr>
          <a:xfrm>
            <a:off x="3402449" y="1150263"/>
            <a:ext cx="7825502" cy="885111"/>
          </a:xfrm>
          <a:prstGeom prst="roundRect">
            <a:avLst>
              <a:gd fmla="val 1922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"/>
          <p:cNvSpPr/>
          <p:nvPr/>
        </p:nvSpPr>
        <p:spPr>
          <a:xfrm>
            <a:off x="3515797" y="1263610"/>
            <a:ext cx="1459944" cy="177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Crimson Pro SemiBold"/>
              <a:buNone/>
            </a:pPr>
            <a:r>
              <a:rPr b="1" i="0" lang="en-US" sz="110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Our Regression Equation</a:t>
            </a:r>
            <a:endParaRPr b="0" i="0" sz="1100" u="none" cap="none" strike="noStrike"/>
          </a:p>
        </p:txBody>
      </p:sp>
      <p:sp>
        <p:nvSpPr>
          <p:cNvPr id="209" name="Google Shape;209;p5"/>
          <p:cNvSpPr/>
          <p:nvPr/>
        </p:nvSpPr>
        <p:spPr>
          <a:xfrm>
            <a:off x="3515797" y="1512451"/>
            <a:ext cx="7598807" cy="201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</a:pPr>
            <a:r>
              <a:t/>
            </a:r>
            <a:endParaRPr b="0" i="0" sz="1000" u="none" cap="none" strike="noStrike"/>
          </a:p>
        </p:txBody>
      </p:sp>
      <p:pic>
        <p:nvPicPr>
          <p:cNvPr descr="preencoded.png" id="210" name="Google Shape;21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5797" y="1512451"/>
            <a:ext cx="7598807" cy="201811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5"/>
          <p:cNvSpPr/>
          <p:nvPr/>
        </p:nvSpPr>
        <p:spPr>
          <a:xfrm>
            <a:off x="3515797" y="1785938"/>
            <a:ext cx="7598807" cy="136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850"/>
              <a:buFont typeface="Heebo"/>
              <a:buNone/>
            </a:pPr>
            <a:r>
              <a:rPr b="0" i="0" lang="en-US" sz="8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This equation describes the linear relationship between study hours and test scores for our dataset.</a:t>
            </a:r>
            <a:endParaRPr b="0" i="0" sz="850" u="none" cap="none" strike="noStrike"/>
          </a:p>
        </p:txBody>
      </p:sp>
      <p:sp>
        <p:nvSpPr>
          <p:cNvPr id="212" name="Google Shape;212;p5"/>
          <p:cNvSpPr/>
          <p:nvPr/>
        </p:nvSpPr>
        <p:spPr>
          <a:xfrm>
            <a:off x="3402449" y="2120384"/>
            <a:ext cx="2268260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1750"/>
              <a:buFont typeface="Crimson Pro SemiBold"/>
              <a:buNone/>
            </a:pPr>
            <a:r>
              <a:rPr b="1" i="0" lang="en-US" sz="17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Making a Prediction</a:t>
            </a:r>
            <a:endParaRPr b="0" i="0" sz="1750" u="none" cap="none" strike="noStrike"/>
          </a:p>
        </p:txBody>
      </p:sp>
      <p:sp>
        <p:nvSpPr>
          <p:cNvPr id="213" name="Google Shape;213;p5"/>
          <p:cNvSpPr/>
          <p:nvPr/>
        </p:nvSpPr>
        <p:spPr>
          <a:xfrm>
            <a:off x="3402449" y="2488883"/>
            <a:ext cx="7825502" cy="140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850"/>
              <a:buFont typeface="Heebo"/>
              <a:buNone/>
            </a:pPr>
            <a:r>
              <a:rPr b="0" i="0" lang="en-US" sz="8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Let's predict the test score for a student who studies </a:t>
            </a:r>
            <a:r>
              <a:rPr b="1" i="0" lang="en-US" sz="8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6 hours</a:t>
            </a:r>
            <a:r>
              <a:rPr b="0" i="0" lang="en-US" sz="8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(</a:t>
            </a:r>
            <a:r>
              <a:rPr b="0" i="1" lang="en-US" sz="8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X = 6</a:t>
            </a:r>
            <a:r>
              <a:rPr b="0" i="0" lang="en-US" sz="8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):</a:t>
            </a:r>
            <a:endParaRPr b="0" i="0" sz="850" u="none" cap="none" strike="noStrike"/>
          </a:p>
        </p:txBody>
      </p:sp>
      <p:sp>
        <p:nvSpPr>
          <p:cNvPr id="214" name="Google Shape;214;p5"/>
          <p:cNvSpPr/>
          <p:nvPr/>
        </p:nvSpPr>
        <p:spPr>
          <a:xfrm>
            <a:off x="3402449" y="2756892"/>
            <a:ext cx="113348" cy="1416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850"/>
              <a:buFont typeface="Crimson Pro Light"/>
              <a:buNone/>
            </a:pPr>
            <a:r>
              <a:rPr b="0" i="0" lang="en-US" sz="850" u="none" cap="none" strike="noStrike">
                <a:solidFill>
                  <a:srgbClr val="4C4C4D"/>
                </a:solidFill>
                <a:latin typeface="Crimson Pro Light"/>
                <a:ea typeface="Crimson Pro Light"/>
                <a:cs typeface="Crimson Pro Light"/>
                <a:sym typeface="Crimson Pro Light"/>
              </a:rPr>
              <a:t>01</a:t>
            </a:r>
            <a:endParaRPr b="0" i="0" sz="850" u="none" cap="none" strike="noStrike"/>
          </a:p>
        </p:txBody>
      </p:sp>
      <p:sp>
        <p:nvSpPr>
          <p:cNvPr id="215" name="Google Shape;215;p5"/>
          <p:cNvSpPr/>
          <p:nvPr/>
        </p:nvSpPr>
        <p:spPr>
          <a:xfrm>
            <a:off x="3402449" y="2934295"/>
            <a:ext cx="2964180" cy="15240"/>
          </a:xfrm>
          <a:prstGeom prst="rect">
            <a:avLst/>
          </a:prstGeom>
          <a:solidFill>
            <a:srgbClr val="215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5"/>
          <p:cNvSpPr/>
          <p:nvPr/>
        </p:nvSpPr>
        <p:spPr>
          <a:xfrm>
            <a:off x="3402449" y="3021449"/>
            <a:ext cx="1417558" cy="177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Crimson Pro SemiBold"/>
              <a:buNone/>
            </a:pPr>
            <a:r>
              <a:rPr b="1" i="0" lang="en-US" sz="110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Substitute X = 6</a:t>
            </a:r>
            <a:endParaRPr b="0" i="0" sz="1100" u="none" cap="none" strike="noStrike"/>
          </a:p>
        </p:txBody>
      </p:sp>
      <p:sp>
        <p:nvSpPr>
          <p:cNvPr id="217" name="Google Shape;217;p5"/>
          <p:cNvSpPr/>
          <p:nvPr/>
        </p:nvSpPr>
        <p:spPr>
          <a:xfrm>
            <a:off x="3402449" y="3270290"/>
            <a:ext cx="2964180" cy="194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</a:pPr>
            <a:r>
              <a:t/>
            </a:r>
            <a:endParaRPr b="0" i="0" sz="1000" u="none" cap="none" strike="noStrike"/>
          </a:p>
        </p:txBody>
      </p:sp>
      <p:pic>
        <p:nvPicPr>
          <p:cNvPr descr="preencoded.png" id="218" name="Google Shape;21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02449" y="3270290"/>
            <a:ext cx="2964180" cy="194191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5"/>
          <p:cNvSpPr/>
          <p:nvPr/>
        </p:nvSpPr>
        <p:spPr>
          <a:xfrm>
            <a:off x="3402449" y="3606165"/>
            <a:ext cx="113348" cy="1416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850"/>
              <a:buFont typeface="Crimson Pro Light"/>
              <a:buNone/>
            </a:pPr>
            <a:r>
              <a:rPr b="0" i="0" lang="en-US" sz="850" u="none" cap="none" strike="noStrike">
                <a:solidFill>
                  <a:srgbClr val="4C4C4D"/>
                </a:solidFill>
                <a:latin typeface="Crimson Pro Light"/>
                <a:ea typeface="Crimson Pro Light"/>
                <a:cs typeface="Crimson Pro Light"/>
                <a:sym typeface="Crimson Pro Light"/>
              </a:rPr>
              <a:t>02</a:t>
            </a:r>
            <a:endParaRPr b="0" i="0" sz="850" u="none" cap="none" strike="noStrike"/>
          </a:p>
        </p:txBody>
      </p:sp>
      <p:sp>
        <p:nvSpPr>
          <p:cNvPr id="220" name="Google Shape;220;p5"/>
          <p:cNvSpPr/>
          <p:nvPr/>
        </p:nvSpPr>
        <p:spPr>
          <a:xfrm>
            <a:off x="3402449" y="3783568"/>
            <a:ext cx="2964180" cy="15240"/>
          </a:xfrm>
          <a:prstGeom prst="rect">
            <a:avLst/>
          </a:prstGeom>
          <a:solidFill>
            <a:srgbClr val="215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5"/>
          <p:cNvSpPr/>
          <p:nvPr/>
        </p:nvSpPr>
        <p:spPr>
          <a:xfrm>
            <a:off x="3402449" y="3870722"/>
            <a:ext cx="1417558" cy="177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Crimson Pro SemiBold"/>
              <a:buNone/>
            </a:pPr>
            <a:r>
              <a:rPr b="1" i="0" lang="en-US" sz="110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Calculate</a:t>
            </a:r>
            <a:endParaRPr b="0" i="0" sz="1100" u="none" cap="none" strike="noStrike"/>
          </a:p>
        </p:txBody>
      </p:sp>
      <p:sp>
        <p:nvSpPr>
          <p:cNvPr id="222" name="Google Shape;222;p5"/>
          <p:cNvSpPr/>
          <p:nvPr/>
        </p:nvSpPr>
        <p:spPr>
          <a:xfrm>
            <a:off x="3402449" y="4119563"/>
            <a:ext cx="2964180" cy="194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</a:pPr>
            <a:r>
              <a:t/>
            </a:r>
            <a:endParaRPr b="0" i="0" sz="1000" u="none" cap="none" strike="noStrike"/>
          </a:p>
        </p:txBody>
      </p:sp>
      <p:pic>
        <p:nvPicPr>
          <p:cNvPr descr="preencoded.png" id="223" name="Google Shape;22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2449" y="4119563"/>
            <a:ext cx="2964180" cy="19419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5"/>
          <p:cNvSpPr/>
          <p:nvPr/>
        </p:nvSpPr>
        <p:spPr>
          <a:xfrm>
            <a:off x="3402449" y="4455438"/>
            <a:ext cx="113348" cy="1416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850"/>
              <a:buFont typeface="Crimson Pro Light"/>
              <a:buNone/>
            </a:pPr>
            <a:r>
              <a:rPr b="0" i="0" lang="en-US" sz="850" u="none" cap="none" strike="noStrike">
                <a:solidFill>
                  <a:srgbClr val="4C4C4D"/>
                </a:solidFill>
                <a:latin typeface="Crimson Pro Light"/>
                <a:ea typeface="Crimson Pro Light"/>
                <a:cs typeface="Crimson Pro Light"/>
                <a:sym typeface="Crimson Pro Light"/>
              </a:rPr>
              <a:t>03</a:t>
            </a:r>
            <a:endParaRPr b="0" i="0" sz="850" u="none" cap="none" strike="noStrike"/>
          </a:p>
        </p:txBody>
      </p:sp>
      <p:sp>
        <p:nvSpPr>
          <p:cNvPr id="225" name="Google Shape;225;p5"/>
          <p:cNvSpPr/>
          <p:nvPr/>
        </p:nvSpPr>
        <p:spPr>
          <a:xfrm>
            <a:off x="3402449" y="4632841"/>
            <a:ext cx="2964180" cy="15240"/>
          </a:xfrm>
          <a:prstGeom prst="rect">
            <a:avLst/>
          </a:prstGeom>
          <a:solidFill>
            <a:srgbClr val="215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5"/>
          <p:cNvSpPr/>
          <p:nvPr/>
        </p:nvSpPr>
        <p:spPr>
          <a:xfrm>
            <a:off x="3402449" y="4719995"/>
            <a:ext cx="1417558" cy="177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Crimson Pro SemiBold"/>
              <a:buNone/>
            </a:pPr>
            <a:r>
              <a:rPr b="1" i="0" lang="en-US" sz="110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Final result</a:t>
            </a:r>
            <a:endParaRPr b="0" i="0" sz="1100" u="none" cap="none" strike="noStrike"/>
          </a:p>
        </p:txBody>
      </p:sp>
      <p:sp>
        <p:nvSpPr>
          <p:cNvPr id="227" name="Google Shape;227;p5"/>
          <p:cNvSpPr/>
          <p:nvPr/>
        </p:nvSpPr>
        <p:spPr>
          <a:xfrm>
            <a:off x="3402449" y="4968835"/>
            <a:ext cx="2964180" cy="194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</a:pPr>
            <a:r>
              <a:t/>
            </a:r>
            <a:endParaRPr b="0" i="0" sz="1000" u="none" cap="none" strike="noStrike"/>
          </a:p>
        </p:txBody>
      </p:sp>
      <p:pic>
        <p:nvPicPr>
          <p:cNvPr descr="preencoded.png" id="228" name="Google Shape;22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02449" y="4968835"/>
            <a:ext cx="2964180" cy="1941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9" name="Google Shape;229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50950" y="2756892"/>
            <a:ext cx="4584621" cy="4584621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5"/>
          <p:cNvSpPr/>
          <p:nvPr/>
        </p:nvSpPr>
        <p:spPr>
          <a:xfrm>
            <a:off x="6650950" y="7461885"/>
            <a:ext cx="4584621" cy="37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2900"/>
              <a:buFont typeface="Crimson Pro SemiBold"/>
              <a:buNone/>
            </a:pPr>
            <a:r>
              <a:rPr b="1" i="0" lang="en-US" sz="290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5.8</a:t>
            </a:r>
            <a:endParaRPr b="0" i="0" sz="2900" u="none" cap="none" strike="noStrike"/>
          </a:p>
        </p:txBody>
      </p:sp>
      <p:sp>
        <p:nvSpPr>
          <p:cNvPr id="231" name="Google Shape;231;p5"/>
          <p:cNvSpPr/>
          <p:nvPr/>
        </p:nvSpPr>
        <p:spPr>
          <a:xfrm>
            <a:off x="8234482" y="7935278"/>
            <a:ext cx="1417558" cy="177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Crimson Pro SemiBold"/>
              <a:buNone/>
            </a:pPr>
            <a:r>
              <a:rPr b="1" i="0" lang="en-US" sz="110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Predicted Score</a:t>
            </a:r>
            <a:endParaRPr b="0" i="0" sz="1100" u="none" cap="none" strike="noStrike"/>
          </a:p>
        </p:txBody>
      </p:sp>
      <p:sp>
        <p:nvSpPr>
          <p:cNvPr id="232" name="Google Shape;232;p5"/>
          <p:cNvSpPr/>
          <p:nvPr/>
        </p:nvSpPr>
        <p:spPr>
          <a:xfrm>
            <a:off x="6650950" y="8169116"/>
            <a:ext cx="4584621" cy="136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850"/>
              <a:buFont typeface="Heebo"/>
              <a:buNone/>
            </a:pPr>
            <a:r>
              <a:rPr b="0" i="0" lang="en-US" sz="8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Expected test score for 6 hours of study</a:t>
            </a:r>
            <a:endParaRPr b="0" i="0" sz="850" u="none" cap="none" strike="noStrike"/>
          </a:p>
        </p:txBody>
      </p:sp>
      <p:sp>
        <p:nvSpPr>
          <p:cNvPr id="233" name="Google Shape;233;p5"/>
          <p:cNvSpPr/>
          <p:nvPr/>
        </p:nvSpPr>
        <p:spPr>
          <a:xfrm>
            <a:off x="3402449" y="8489292"/>
            <a:ext cx="7825502" cy="21788"/>
          </a:xfrm>
          <a:prstGeom prst="rect">
            <a:avLst/>
          </a:prstGeom>
          <a:solidFill>
            <a:srgbClr val="4C4C4D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5"/>
          <p:cNvSpPr/>
          <p:nvPr/>
        </p:nvSpPr>
        <p:spPr>
          <a:xfrm>
            <a:off x="3402449" y="8596074"/>
            <a:ext cx="2268260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1750"/>
              <a:buFont typeface="Crimson Pro SemiBold"/>
              <a:buNone/>
            </a:pPr>
            <a:r>
              <a:rPr b="1" i="0" lang="en-US" sz="1750" u="none" cap="none" strike="noStrike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Next Steps</a:t>
            </a:r>
            <a:endParaRPr b="0" i="0" sz="1750" u="none" cap="none" strike="noStrike"/>
          </a:p>
        </p:txBody>
      </p:sp>
      <p:pic>
        <p:nvPicPr>
          <p:cNvPr descr="preencoded.png" id="235" name="Google Shape;235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02449" y="8964573"/>
            <a:ext cx="951309" cy="951309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5"/>
          <p:cNvSpPr/>
          <p:nvPr/>
        </p:nvSpPr>
        <p:spPr>
          <a:xfrm>
            <a:off x="4424601" y="8964573"/>
            <a:ext cx="1417558" cy="191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Crimson Pro SemiBold"/>
              <a:buNone/>
            </a:pPr>
            <a:r>
              <a:rPr b="1" i="0" lang="en-US" sz="110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Calculate </a:t>
            </a:r>
            <a:r>
              <a:rPr b="1" i="1" lang="en-US" sz="110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R^2</a:t>
            </a:r>
            <a:r>
              <a:rPr b="1" i="0" lang="en-US" sz="110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 Value</a:t>
            </a:r>
            <a:endParaRPr b="0" i="0" sz="1100" u="none" cap="none" strike="noStrike"/>
          </a:p>
        </p:txBody>
      </p:sp>
      <p:sp>
        <p:nvSpPr>
          <p:cNvPr id="237" name="Google Shape;237;p5"/>
          <p:cNvSpPr/>
          <p:nvPr/>
        </p:nvSpPr>
        <p:spPr>
          <a:xfrm>
            <a:off x="4424601" y="9189601"/>
            <a:ext cx="1539121" cy="408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850"/>
              <a:buFont typeface="Heebo"/>
              <a:buNone/>
            </a:pPr>
            <a:r>
              <a:rPr b="0" i="0" lang="en-US" sz="8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Measure how well the model fits the data by calculating the coefficient of determination.</a:t>
            </a:r>
            <a:endParaRPr b="0" i="0" sz="850" u="none" cap="none" strike="noStrike"/>
          </a:p>
        </p:txBody>
      </p:sp>
      <p:pic>
        <p:nvPicPr>
          <p:cNvPr descr="preencoded.png" id="238" name="Google Shape;238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034564" y="8964573"/>
            <a:ext cx="951309" cy="951309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5"/>
          <p:cNvSpPr/>
          <p:nvPr/>
        </p:nvSpPr>
        <p:spPr>
          <a:xfrm>
            <a:off x="7056715" y="8964573"/>
            <a:ext cx="1417558" cy="177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Crimson Pro SemiBold"/>
              <a:buNone/>
            </a:pPr>
            <a:r>
              <a:rPr b="1" i="0" lang="en-US" sz="110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Try a Different Scenario</a:t>
            </a:r>
            <a:endParaRPr b="0" i="0" sz="1100" u="none" cap="none" strike="noStrike"/>
          </a:p>
        </p:txBody>
      </p:sp>
      <p:sp>
        <p:nvSpPr>
          <p:cNvPr id="240" name="Google Shape;240;p5"/>
          <p:cNvSpPr/>
          <p:nvPr/>
        </p:nvSpPr>
        <p:spPr>
          <a:xfrm>
            <a:off x="7056715" y="9175671"/>
            <a:ext cx="1539121" cy="408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850"/>
              <a:buFont typeface="Heebo"/>
              <a:buNone/>
            </a:pPr>
            <a:r>
              <a:rPr b="0" i="0" lang="en-US" sz="8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Apply these same steps to a new dataset with different variables and relationships.</a:t>
            </a:r>
            <a:endParaRPr b="0" i="0" sz="850" u="none" cap="none" strike="noStrike"/>
          </a:p>
        </p:txBody>
      </p:sp>
      <p:pic>
        <p:nvPicPr>
          <p:cNvPr descr="preencoded.png" id="241" name="Google Shape;241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66678" y="8964573"/>
            <a:ext cx="951309" cy="951309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5"/>
          <p:cNvSpPr/>
          <p:nvPr/>
        </p:nvSpPr>
        <p:spPr>
          <a:xfrm>
            <a:off x="9688830" y="8964573"/>
            <a:ext cx="153912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Crimson Pro SemiBold"/>
              <a:buNone/>
            </a:pPr>
            <a:r>
              <a:rPr b="1" i="0" lang="en-US" sz="1100" u="none" cap="none" strike="noStrike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Explore Multiple Regression</a:t>
            </a:r>
            <a:endParaRPr b="0" i="0" sz="1100" u="none" cap="none" strike="noStrike"/>
          </a:p>
        </p:txBody>
      </p:sp>
      <p:sp>
        <p:nvSpPr>
          <p:cNvPr id="243" name="Google Shape;243;p5"/>
          <p:cNvSpPr/>
          <p:nvPr/>
        </p:nvSpPr>
        <p:spPr>
          <a:xfrm>
            <a:off x="9688830" y="9352836"/>
            <a:ext cx="1539121" cy="408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850"/>
              <a:buFont typeface="Heebo"/>
              <a:buNone/>
            </a:pPr>
            <a:r>
              <a:rPr b="0" i="0" lang="en-US" sz="850" u="none" cap="none" strike="noStrik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Learn how to predict outcomes using two or more independent variables.</a:t>
            </a:r>
            <a:endParaRPr b="0" i="0" sz="8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2026-01-27T07:03:29Z</dcterms:created>
</cp:coreProperties>
</file>