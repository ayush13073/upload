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8229600" cx="14630400"/>
  <p:notesSz cx="8229600" cy="14630400"/>
  <p:embeddedFontLst>
    <p:embeddedFont>
      <p:font typeface="Heebo"/>
      <p:regular r:id="rId16"/>
      <p:bold r:id="rId17"/>
    </p:embeddedFont>
    <p:embeddedFont>
      <p:font typeface="Crimson Pro SemiBol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44HCAJbK1cb7xRIBff2iXTWB1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rimsonProSemiBold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rimsonProSemiBold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Heebo-bold.fntdata"/><Relationship Id="rId16" Type="http://schemas.openxmlformats.org/officeDocument/2006/relationships/font" Target="fonts/Heebo-regular.fntdata"/><Relationship Id="rId5" Type="http://schemas.openxmlformats.org/officeDocument/2006/relationships/slide" Target="slides/slide1.xml"/><Relationship Id="rId19" Type="http://schemas.openxmlformats.org/officeDocument/2006/relationships/font" Target="fonts/CrimsonProSemiBold-bold.fntdata"/><Relationship Id="rId6" Type="http://schemas.openxmlformats.org/officeDocument/2006/relationships/slide" Target="slides/slide2.xml"/><Relationship Id="rId18" Type="http://schemas.openxmlformats.org/officeDocument/2006/relationships/font" Target="fonts/CrimsonPro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6280190" y="1575435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4450"/>
              <a:buFont typeface="Crimson Pro SemiBold"/>
              <a:buNone/>
            </a:pPr>
            <a:r>
              <a:rPr b="1" i="0" lang="en-US" sz="44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 1: Calculate the Total Sum of Squares (SStot)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6280190" y="3333155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SStot measures the total variation in observed scores (Y) relative to their grand mean (Ȳ = 4). This represents the baseline variability we're trying to explain with our regression model.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280190" y="4677013"/>
            <a:ext cx="7556421" cy="370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First, we calculate the mean: </a:t>
            </a:r>
            <a:r>
              <a:rPr b="0" i="1" lang="en-US" sz="1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\bar{Y} = \frac{2+4+5+4+5}{5} = 4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6280190" y="5302687"/>
            <a:ext cx="7556421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Then we compute: </a:t>
            </a:r>
            <a:r>
              <a:rPr b="0" i="1" lang="en-US" sz="1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SS_{tot} = \sum(Y_i - \bar{Y})^2 = (2-4)^2 + (4-4)^2 + (5-4)^2 + (4-4)^2 + (5-4)^2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6280190" y="6291263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Result: SStot = 4 + 0 + 1 + 0 + 1 = </a:t>
            </a:r>
            <a:r>
              <a:rPr b="1" i="0" lang="en-US" sz="1750" u="none" cap="none" strike="noStrike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6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/>
          <p:nvPr/>
        </p:nvSpPr>
        <p:spPr>
          <a:xfrm>
            <a:off x="793790" y="959411"/>
            <a:ext cx="12354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4450"/>
              <a:buFont typeface="Crimson Pro SemiBold"/>
              <a:buNone/>
            </a:pPr>
            <a:r>
              <a:rPr b="1" lang="en-US" sz="44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 2: Calculate the Residual Sum of Squares (SSres)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93790" y="247614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SSres measures the variation that our regression model (Ŷ = 0.6X + 2.2) </a:t>
            </a:r>
            <a:r>
              <a:rPr i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fails</a:t>
            </a: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to explain. These are the differences between actual scores and predicted scores—the "residuals" or errors in our model.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93790" y="3457099"/>
            <a:ext cx="3090505" cy="1306949"/>
          </a:xfrm>
          <a:prstGeom prst="roundRect">
            <a:avLst>
              <a:gd fmla="val 260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1020604" y="3683913"/>
            <a:ext cx="263687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X = 1, Ŷ = 2.8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020604" y="4174331"/>
            <a:ext cx="263687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(2 − 2.8)² = 0.64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111109" y="3457099"/>
            <a:ext cx="3090624" cy="1306949"/>
          </a:xfrm>
          <a:prstGeom prst="roundRect">
            <a:avLst>
              <a:gd fmla="val 260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337923" y="3683913"/>
            <a:ext cx="263699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X = 2, Ŷ = 3.4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337923" y="4174331"/>
            <a:ext cx="26369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(4 − 3.4)² = 0.36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428548" y="3457099"/>
            <a:ext cx="3090624" cy="1306949"/>
          </a:xfrm>
          <a:prstGeom prst="roundRect">
            <a:avLst>
              <a:gd fmla="val 260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7655362" y="3683913"/>
            <a:ext cx="263699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X = 3, Ŷ = 4.0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655362" y="4174331"/>
            <a:ext cx="26369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(5 − 4.0)² = 1.00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0745986" y="3457099"/>
            <a:ext cx="3090624" cy="1306949"/>
          </a:xfrm>
          <a:prstGeom prst="roundRect">
            <a:avLst>
              <a:gd fmla="val 260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10972800" y="3683913"/>
            <a:ext cx="263699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X = 4, Ŷ = 4.6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0972800" y="4174331"/>
            <a:ext cx="26369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(4 − 4.6)² = 0.36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93790" y="4990862"/>
            <a:ext cx="13042821" cy="1306949"/>
          </a:xfrm>
          <a:prstGeom prst="roundRect">
            <a:avLst>
              <a:gd fmla="val 260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1020604" y="52176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X = 5, Ŷ = 5.2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020604" y="5708094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(5 − 5.2)² = 0.04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793790" y="655296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Result: SSres = 0.64 + 0.36 + 1.00 + 0.36 + 0.04 = </a:t>
            </a:r>
            <a:r>
              <a:rPr b="1" lang="en-US" sz="175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2.4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280190" y="160353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4450"/>
              <a:buFont typeface="Crimson Pro SemiBold"/>
              <a:buNone/>
            </a:pPr>
            <a:r>
              <a:rPr b="1" lang="en-US" sz="44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 3: Compute R²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280190" y="2652474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R² (coefficient of determination) represents the </a:t>
            </a: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proportion of variance explained</a:t>
            </a: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by our regression model. It tells us how well our independent variable (study hours) predicts our dependent variable (test scores).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280190" y="4028242"/>
            <a:ext cx="7556421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4028242"/>
            <a:ext cx="7556421" cy="67806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6280190" y="4993362"/>
            <a:ext cx="7556421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4993362"/>
            <a:ext cx="7556421" cy="6197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6280190" y="5900142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FFFFFF"/>
                </a:solidFill>
                <a:highlight>
                  <a:srgbClr val="2150FE"/>
                </a:highlight>
                <a:latin typeface="Heebo"/>
                <a:ea typeface="Heebo"/>
                <a:cs typeface="Heebo"/>
                <a:sym typeface="Heebo"/>
              </a:rPr>
              <a:t>R² = 0.6</a:t>
            </a: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means 60% of the variation in test scores is explained by study hours.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1018461" y="517327"/>
            <a:ext cx="4630698" cy="570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550"/>
              <a:buFont typeface="Crimson Pro SemiBold"/>
              <a:buNone/>
            </a:pPr>
            <a:r>
              <a:rPr b="1" lang="en-US" sz="35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Interpretation of Results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545467" y="1454706"/>
            <a:ext cx="3650218" cy="456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50"/>
              <a:buFont typeface="Crimson Pro SemiBold"/>
              <a:buNone/>
            </a:pPr>
            <a:r>
              <a:rPr b="1" lang="en-US" sz="28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R² = 0.6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545467" y="2057757"/>
            <a:ext cx="6074093" cy="79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Heebo"/>
              <a:buNone/>
            </a:pP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</a:t>
            </a:r>
            <a:r>
              <a:rPr b="1"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R² value is 0.6</a:t>
            </a: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meaning that </a:t>
            </a:r>
            <a:r>
              <a:rPr b="1" lang="en-US" sz="140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60% of the variation</a:t>
            </a: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in test scores can be explained by the number of hours studied. This indicates a moderately strong relationship between study time and performance.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545467" y="2995017"/>
            <a:ext cx="3650218" cy="456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50"/>
              <a:buFont typeface="Crimson Pro SemiBold"/>
              <a:buNone/>
            </a:pPr>
            <a:r>
              <a:rPr b="1" lang="en-US" sz="28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Standard Error: 0.894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545467" y="3598069"/>
            <a:ext cx="6074093" cy="79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Heebo"/>
              <a:buNone/>
            </a:pP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</a:t>
            </a:r>
            <a:r>
              <a:rPr b="1"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Standard Error of the Estimate (Se)</a:t>
            </a: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is approximately </a:t>
            </a:r>
            <a:r>
              <a:rPr b="1" lang="en-US" sz="140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0.894</a:t>
            </a: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 This tells us the typical distance between observed scores and the regression line—the average "miss" of our predictions.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104040" y="1202828"/>
            <a:ext cx="10136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4450"/>
              <a:buFont typeface="Crimson Pro SemiBold"/>
              <a:buNone/>
            </a:pPr>
            <a:r>
              <a:rPr b="1" lang="en-US" sz="44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Understanding the Standard Error Formula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93790" y="2463760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Standard Error of the Estimate measures the </a:t>
            </a: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average distance</a:t>
            </a: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that observed values fall from the regression line. It quantifies the precision of our predictions.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93790" y="3476625"/>
            <a:ext cx="13042821" cy="753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476625"/>
            <a:ext cx="13042821" cy="75330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793790" y="4516993"/>
            <a:ext cx="4196358" cy="2411254"/>
          </a:xfrm>
          <a:prstGeom prst="roundRect">
            <a:avLst>
              <a:gd fmla="val 1411" name="adj"/>
            </a:avLst>
          </a:prstGeom>
          <a:solidFill>
            <a:srgbClr val="FFFFFF"/>
          </a:solidFill>
          <a:ln cap="flat" cmpd="sng" w="304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824270" y="4547473"/>
            <a:ext cx="4135398" cy="680442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1888" y="471749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1051084" y="5454729"/>
            <a:ext cx="368177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SSres (Residual Sum of Squares)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51084" y="6299478"/>
            <a:ext cx="36817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value we calculated: </a:t>
            </a: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2.4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216962" y="4516993"/>
            <a:ext cx="4196358" cy="2411254"/>
          </a:xfrm>
          <a:prstGeom prst="roundRect">
            <a:avLst>
              <a:gd fmla="val 1411" name="adj"/>
            </a:avLst>
          </a:prstGeom>
          <a:solidFill>
            <a:srgbClr val="FFFFFF"/>
          </a:solidFill>
          <a:ln cap="flat" cmpd="sng" w="304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247442" y="4547473"/>
            <a:ext cx="4135398" cy="680442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5060" y="471749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5474256" y="54547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n (Sample Size)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74256" y="5945148"/>
            <a:ext cx="36817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Number of data points: </a:t>
            </a: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640133" y="4516993"/>
            <a:ext cx="4196358" cy="2411254"/>
          </a:xfrm>
          <a:prstGeom prst="roundRect">
            <a:avLst>
              <a:gd fmla="val 1411" name="adj"/>
            </a:avLst>
          </a:prstGeom>
          <a:solidFill>
            <a:srgbClr val="FFFFFF"/>
          </a:solidFill>
          <a:ln cap="flat" cmpd="sng" w="304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9670613" y="4547473"/>
            <a:ext cx="4135398" cy="680442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68232" y="471749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9831727" y="5324242"/>
            <a:ext cx="3133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n − 2 (Degrees of Freedom)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897427" y="5945148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subtract 2? We estimated two parameters (slope and intercept)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474562" y="277633"/>
            <a:ext cx="62514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200"/>
              <a:buFont typeface="Crimson Pro SemiBold"/>
              <a:buNone/>
            </a:pPr>
            <a:r>
              <a:rPr b="1" lang="en-US" sz="32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 2: Calculate Degrees of Freedom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640562" y="1303139"/>
            <a:ext cx="2467213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900"/>
              <a:buFont typeface="Crimson Pro SemiBold"/>
              <a:buNone/>
            </a:pPr>
            <a:r>
              <a:rPr b="1" lang="en-US" sz="19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Why n − 2?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640562" y="1730693"/>
            <a:ext cx="5473898" cy="46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50"/>
              <a:buFont typeface="Heebo"/>
              <a:buNone/>
            </a:pPr>
            <a:r>
              <a:rPr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For simple linear regression, the degrees of freedom is </a:t>
            </a:r>
            <a:r>
              <a:rPr i="1"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 - 2</a:t>
            </a:r>
            <a:r>
              <a:rPr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because we have estimated </a:t>
            </a:r>
            <a:r>
              <a:rPr b="1"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two parameters</a:t>
            </a:r>
            <a:r>
              <a:rPr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from our data: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640562" y="2299216"/>
            <a:ext cx="5473898" cy="23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50"/>
              <a:buFont typeface="Heebo"/>
              <a:buChar char="•"/>
            </a:pPr>
            <a:r>
              <a:rPr i="1"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\beta_0</a:t>
            </a:r>
            <a:r>
              <a:rPr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the y-intercept (where the line crosses the y-axis)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640562" y="2575322"/>
            <a:ext cx="5473898" cy="23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50"/>
              <a:buFont typeface="Heebo"/>
              <a:buChar char="•"/>
            </a:pPr>
            <a:r>
              <a:rPr i="1"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\beta_1</a:t>
            </a:r>
            <a:r>
              <a:rPr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the slope (the rate of change in Y per unit of X)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640562" y="2917031"/>
            <a:ext cx="547389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50"/>
              <a:buFont typeface="Heebo"/>
              <a:buNone/>
            </a:pPr>
            <a:r>
              <a:rPr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Each estimated parameter "costs" us one degree of freedom.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3321" y="1318022"/>
            <a:ext cx="5473898" cy="547389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1640562" y="7076837"/>
            <a:ext cx="11349157" cy="283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0562" y="7076837"/>
            <a:ext cx="11349157" cy="283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1640562" y="7511653"/>
            <a:ext cx="1134915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50"/>
              <a:buFont typeface="Heebo"/>
              <a:buNone/>
            </a:pPr>
            <a:r>
              <a:rPr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With 5 data points, we have </a:t>
            </a:r>
            <a:r>
              <a:rPr b="1" lang="en-US" sz="125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3 degrees of freedom</a:t>
            </a:r>
            <a:r>
              <a:rPr lang="en-US" sz="12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for our error estimate.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969253" y="635815"/>
            <a:ext cx="74838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4000"/>
              <a:buFont typeface="Crimson Pro SemiBold"/>
              <a:buNone/>
            </a:pPr>
            <a:r>
              <a:rPr b="1" lang="en-US" sz="40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 3: Compute the Standard Error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199703" y="1809988"/>
            <a:ext cx="7717393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00"/>
              <a:buFont typeface="Heebo"/>
              <a:buNone/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Now we substitute our calculated values into the formula and solve step by step: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2907" y="2325529"/>
            <a:ext cx="5990987" cy="35556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87115" y="3194597"/>
            <a:ext cx="510009" cy="510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11232728" y="5056450"/>
            <a:ext cx="1489228" cy="286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1" lang="en-US" sz="135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√0.8 ≈ 0.894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0002" y="3195553"/>
            <a:ext cx="510010" cy="510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9355892" y="5056450"/>
            <a:ext cx="1489228" cy="286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1" lang="en-US" sz="135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0.8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3165" y="3195553"/>
            <a:ext cx="510010" cy="510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7448457" y="5056450"/>
            <a:ext cx="1489228" cy="286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1" lang="en-US" sz="135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SS_res/df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199703" y="6112907"/>
            <a:ext cx="7717393" cy="676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9703" y="6112907"/>
            <a:ext cx="7717393" cy="67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6199703" y="7021473"/>
            <a:ext cx="7717393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00"/>
              <a:buFont typeface="Heebo"/>
              <a:buNone/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We typically round to three decimal places: </a:t>
            </a:r>
            <a:r>
              <a:rPr b="1" lang="en-US" sz="160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Se ≈ 0.894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772136" y="78477"/>
            <a:ext cx="56118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550"/>
              <a:buFont typeface="Crimson Pro SemiBold"/>
              <a:buNone/>
            </a:pPr>
            <a:r>
              <a:rPr b="1" lang="en-US" sz="35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Standard Error Interpretation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76511" y="1257631"/>
            <a:ext cx="36783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50"/>
              <a:buFont typeface="Crimson Pro SemiBold"/>
              <a:buNone/>
            </a:pPr>
            <a:r>
              <a:rPr b="1" lang="en-US" sz="28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Does 0.894 Mean?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18461" y="2057757"/>
            <a:ext cx="6074093" cy="79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Heebo"/>
              <a:buNone/>
            </a:pP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</a:t>
            </a:r>
            <a:r>
              <a:rPr b="1"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Standard Error of the Estimate is approximately 0.894</a:t>
            </a: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 This indicates that, on average, the observed test scores deviate from the predicted regression line by about </a:t>
            </a:r>
            <a:r>
              <a:rPr b="1" lang="en-US" sz="140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0.894 points</a:t>
            </a: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18461" y="2980373"/>
            <a:ext cx="6074093" cy="526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Heebo"/>
              <a:buNone/>
            </a:pP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Think of it as the "typical prediction error"—when we use study hours to predict test scores, we're usually off by less than 1 point.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75061" y="3654147"/>
            <a:ext cx="42702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50"/>
              <a:buFont typeface="Crimson Pro SemiBold"/>
              <a:buNone/>
            </a:pPr>
            <a:r>
              <a:rPr b="1" lang="en-US" sz="28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Confidence Interval Preview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18461" y="4257199"/>
            <a:ext cx="6074093" cy="526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Heebo"/>
              <a:buNone/>
            </a:pP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For a predicted score of </a:t>
            </a:r>
            <a:r>
              <a:rPr b="1"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5.8</a:t>
            </a: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(at 6 hours of study), the 95% confidence interval is approximately </a:t>
            </a:r>
            <a:r>
              <a:rPr b="1" lang="en-US" sz="140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[2.815, 8.785]</a:t>
            </a:r>
            <a:r>
              <a:rPr lang="en-US" sz="1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5467" y="1473041"/>
            <a:ext cx="6074093" cy="6074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547440" y="572154"/>
            <a:ext cx="11763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4450"/>
              <a:buFont typeface="Crimson Pro SemiBold"/>
              <a:buNone/>
            </a:pPr>
            <a:r>
              <a:rPr b="1" lang="en-US" sz="44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 1: Identify Parameters for Confidence Interval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93790" y="2785586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To construct a 95% confidence interval for the predicted mean score, we need to gather all relevant parameters from our regression analysis: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93790" y="3766542"/>
            <a:ext cx="3090505" cy="2214205"/>
          </a:xfrm>
          <a:prstGeom prst="roundRect">
            <a:avLst>
              <a:gd fmla="val 153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1020604" y="3993356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770" y="418040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1020604" y="4900613"/>
            <a:ext cx="263687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Predicted Value (Ŷ)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020604" y="5391031"/>
            <a:ext cx="263687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5.8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111109" y="3766542"/>
            <a:ext cx="3090624" cy="2214205"/>
          </a:xfrm>
          <a:prstGeom prst="roundRect">
            <a:avLst>
              <a:gd fmla="val 153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4337923" y="3993356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089" y="418040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4337923" y="4900613"/>
            <a:ext cx="263699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Standard Error (Se)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337923" y="5391031"/>
            <a:ext cx="26369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0.894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428548" y="3766542"/>
            <a:ext cx="3090624" cy="2214205"/>
          </a:xfrm>
          <a:prstGeom prst="roundRect">
            <a:avLst>
              <a:gd fmla="val 153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7655362" y="3993356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2528" y="418040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7655362" y="4900613"/>
            <a:ext cx="263699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Mean of X (X̄)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655362" y="5391031"/>
            <a:ext cx="26369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3.0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0745986" y="3766542"/>
            <a:ext cx="3090624" cy="2214205"/>
          </a:xfrm>
          <a:prstGeom prst="roundRect">
            <a:avLst>
              <a:gd fmla="val 153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10972800" y="3993356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9966" y="418040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10972800" y="4900613"/>
            <a:ext cx="263699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SSx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0972800" y="5391031"/>
            <a:ext cx="26369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10.0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93790" y="6235898"/>
            <a:ext cx="13042821" cy="370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sum of squares for X: </a:t>
            </a:r>
            <a:r>
              <a:rPr i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\sum(X_i - \bar{X})^2 = 10.0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793790" y="365095"/>
            <a:ext cx="8747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4450"/>
              <a:buFont typeface="Crimson Pro SemiBold"/>
              <a:buNone/>
            </a:pPr>
            <a:r>
              <a:rPr b="1" lang="en-US" sz="44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 2: Determine the Critical t-Value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93790" y="2348627"/>
            <a:ext cx="13042821" cy="370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For a </a:t>
            </a: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95% confidence level</a:t>
            </a: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with </a:t>
            </a:r>
            <a:r>
              <a:rPr i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 - 2 = 3</a:t>
            </a: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degrees of freedom, we consult a t-distribution table to find the critical value.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229451"/>
            <a:ext cx="6244709" cy="281642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1819275" y="6045875"/>
            <a:ext cx="226814" cy="226814"/>
          </a:xfrm>
          <a:prstGeom prst="roundRect">
            <a:avLst>
              <a:gd fmla="val 8063" name="adj"/>
            </a:avLst>
          </a:prstGeom>
          <a:solidFill>
            <a:srgbClr val="0010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2107049" y="6045875"/>
            <a:ext cx="173283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Confidence Level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992285" y="6045875"/>
            <a:ext cx="226814" cy="226814"/>
          </a:xfrm>
          <a:prstGeom prst="roundRect">
            <a:avLst>
              <a:gd fmla="val 8063" name="adj"/>
            </a:avLst>
          </a:prstGeom>
          <a:solidFill>
            <a:srgbClr val="012F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4280059" y="6045875"/>
            <a:ext cx="133778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t-value (df=3)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599521" y="3201114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650"/>
              <a:buFont typeface="Crimson Pro SemiBold"/>
              <a:buNone/>
            </a:pPr>
            <a:r>
              <a:rPr b="1" lang="en-US" sz="265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Critical Value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7599521" y="385322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For our 95% confidence interval with 3 degrees of freedom: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7599521" y="4503182"/>
            <a:ext cx="6244709" cy="393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9521" y="4503182"/>
            <a:ext cx="6244709" cy="393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7599521" y="5183505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</a:t>
            </a:r>
            <a:r>
              <a:rPr b="1"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t-value of 3.182</a:t>
            </a: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means we're capturing the middle 95% of the t-distribution, leaving 2.5% in each tail.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599521" y="5909308"/>
            <a:ext cx="6244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750"/>
              <a:buFont typeface="Heebo"/>
              <a:buNone/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higher t-value (compared to z = 1.96 for normal) reflects the additional uncertainty from our small sample size.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gif;base64,R0lGODlhAQABAIAAAP///wAAACH5BAEAAAAALAAAAAABAAEAAAICRAEAOw==" id="222" name="Google Shape;222;p11"/>
          <p:cNvSpPr/>
          <p:nvPr/>
        </p:nvSpPr>
        <p:spPr>
          <a:xfrm>
            <a:off x="152400" y="1524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gif;base64,R0lGODlhAQABAIAAAP///wAAACH5BAEAAAAALAAAAAABAAEAAAICRAEAOw==" id="223" name="Google Shape;223;p11"/>
          <p:cNvSpPr/>
          <p:nvPr/>
        </p:nvSpPr>
        <p:spPr>
          <a:xfrm>
            <a:off x="152400" y="1524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2026-01-27T07:09:19Z</dcterms:created>
</cp:coreProperties>
</file>